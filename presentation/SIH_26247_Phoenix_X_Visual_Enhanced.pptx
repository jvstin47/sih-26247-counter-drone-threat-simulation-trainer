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352" y="1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9/18/26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9/18/26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20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2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image" Target="../media/image2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32520" y="960120"/>
            <a:ext cx="2319302" cy="2577483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Smart India Hackathon 2026 light-bulb logo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9331575" y="1392300"/>
            <a:ext cx="1601754" cy="171311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11480" y="868680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en-US" spc="100">
                <a:solidFill>
                  <a:srgbClr val="B35A00"/>
                </a:solidFill>
                <a:latin typeface="Calibri"/>
              </a:rPr>
              <a:t>ROBOTICS AND DRONES  |  MINISTRY OF DEFENCE / DEFENCE SERVICES STAFF COLLEGE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1161288"/>
            <a:ext cx="7680960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1" i="0" lang="en-US">
                <a:solidFill>
                  <a:srgbClr val="1F497D"/>
                </a:solidFill>
                <a:latin typeface="Calibri"/>
              </a:rPr>
              <a:t>PROJECT PHOENIX-X</a:t>
            </a:r>
          </a:p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1" i="0" lang="en-US">
                <a:solidFill>
                  <a:srgbClr val="D9700F"/>
                </a:solidFill>
                <a:latin typeface="Calibri"/>
              </a:rPr>
              <a:t>C-UAS TRAINER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2231136"/>
            <a:ext cx="763524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50" b="0" i="0" lang="en-US">
                <a:solidFill>
                  <a:srgbClr val="566074"/>
                </a:solidFill>
                <a:latin typeface="Calibri"/>
              </a:rPr>
              <a:t>AI-enabled drone &amp; counter-drone threat simulation trainer for unit-level defence force readiness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1480" y="2889504"/>
            <a:ext cx="7360920" cy="3200400"/>
          </a:xfrm>
          <a:prstGeom prst="roundRect">
            <a:avLst>
              <a:gd name="adj" fmla="val 4000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3054096"/>
            <a:ext cx="356616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en-US" spc="150">
                <a:solidFill>
                  <a:srgbClr val="0070C0"/>
                </a:solidFill>
                <a:latin typeface="Calibri"/>
              </a:rPr>
              <a:t>PROBLEM STATEMENT 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3236976"/>
            <a:ext cx="356616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lang="en-US">
                <a:solidFill>
                  <a:srgbClr val="D9700F"/>
                </a:solidFill>
                <a:latin typeface="Calibri"/>
              </a:rPr>
              <a:t>SIH26247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26280" y="3054096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en-US" spc="150">
                <a:solidFill>
                  <a:srgbClr val="0070C0"/>
                </a:solidFill>
                <a:latin typeface="Calibri"/>
              </a:rPr>
              <a:t>THEME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26280" y="3236976"/>
            <a:ext cx="301752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en-US">
                <a:solidFill>
                  <a:srgbClr val="1F497D"/>
                </a:solidFill>
                <a:latin typeface="Calibri"/>
              </a:rPr>
              <a:t>Robotics and Drones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85800" y="3712464"/>
            <a:ext cx="6812279" cy="0"/>
          </a:xfrm>
          <a:prstGeom prst="line">
            <a:avLst/>
          </a:prstGeom>
          <a:ln w="12700">
            <a:solidFill>
              <a:srgbClr val="D9E2EE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685800" y="3803904"/>
            <a:ext cx="68122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en-US" spc="150">
                <a:solidFill>
                  <a:srgbClr val="0070C0"/>
                </a:solidFill>
                <a:latin typeface="Calibri"/>
              </a:rPr>
              <a:t>PROBLEM STATEMENT TITLE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3995928"/>
            <a:ext cx="68122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en-US">
                <a:solidFill>
                  <a:srgbClr val="A10000"/>
                </a:solidFill>
                <a:latin typeface="Calibri"/>
              </a:rPr>
              <a:t>AI-Enabled Drone &amp; Counter-Drone Threat Simulation Trainer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4352544"/>
            <a:ext cx="68122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 lang="en-US">
                <a:solidFill>
                  <a:srgbClr val="566074"/>
                </a:solidFill>
                <a:latin typeface="Calibri"/>
              </a:rPr>
              <a:t>(Ministry of Defence / Defence Services Staff College)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85800" y="4663440"/>
            <a:ext cx="6812279" cy="0"/>
          </a:xfrm>
          <a:prstGeom prst="line">
            <a:avLst/>
          </a:prstGeom>
          <a:ln w="12700">
            <a:solidFill>
              <a:srgbClr val="D9E2EE"/>
            </a:solidFill>
          </a:ln>
        </p:spPr>
      </p:cxnSp>
      <p:sp>
        <p:nvSpPr>
          <p:cNvPr id="51" name="TextBox 50"/>
          <p:cNvSpPr txBox="1"/>
          <p:nvPr/>
        </p:nvSpPr>
        <p:spPr>
          <a:xfrm>
            <a:off x="685800" y="4754880"/>
            <a:ext cx="356616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en-US" spc="150">
                <a:solidFill>
                  <a:srgbClr val="0070C0"/>
                </a:solidFill>
                <a:latin typeface="Calibri"/>
              </a:rPr>
              <a:t>SPONSORING ORGANIZATION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26280" y="4754880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en-US" spc="150">
                <a:solidFill>
                  <a:srgbClr val="0070C0"/>
                </a:solidFill>
                <a:latin typeface="Calibri"/>
              </a:rPr>
              <a:t>CATEGORY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49377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en-US">
                <a:solidFill>
                  <a:srgbClr val="1F497D"/>
                </a:solidFill>
                <a:latin typeface="Calibri"/>
              </a:rPr>
              <a:t>Ministry of Defence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26280" y="49377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en-US">
                <a:solidFill>
                  <a:srgbClr val="1F497D"/>
                </a:solidFill>
                <a:latin typeface="Calibri"/>
              </a:rPr>
              <a:t>Software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85800" y="5358384"/>
            <a:ext cx="6812279" cy="0"/>
          </a:xfrm>
          <a:prstGeom prst="line">
            <a:avLst/>
          </a:prstGeom>
          <a:ln w="12700">
            <a:solidFill>
              <a:srgbClr val="D9E2EE"/>
            </a:solidFill>
          </a:ln>
        </p:spPr>
      </p:cxnSp>
      <p:sp>
        <p:nvSpPr>
          <p:cNvPr id="56" name="TextBox 55"/>
          <p:cNvSpPr txBox="1"/>
          <p:nvPr/>
        </p:nvSpPr>
        <p:spPr>
          <a:xfrm>
            <a:off x="685800" y="5449824"/>
            <a:ext cx="356616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en-US" spc="150">
                <a:solidFill>
                  <a:srgbClr val="0070C0"/>
                </a:solidFill>
                <a:latin typeface="Calibri"/>
              </a:rPr>
              <a:t>TEAM NAME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26280" y="5449824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en-US" spc="150">
                <a:solidFill>
                  <a:srgbClr val="0070C0"/>
                </a:solidFill>
                <a:latin typeface="Calibri"/>
              </a:rPr>
              <a:t>TEAM ID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563270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en-US">
                <a:solidFill>
                  <a:srgbClr val="1F497D"/>
                </a:solidFill>
                <a:latin typeface="Calibri"/>
              </a:rPr>
              <a:t>Phoenix X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26280" y="563270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en-US">
                <a:solidFill>
                  <a:srgbClr val="1F497D"/>
                </a:solidFill>
                <a:latin typeface="Calibri"/>
              </a:rPr>
              <a:t>141943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92440" y="2889504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lang="en-US" spc="120">
                <a:solidFill>
                  <a:srgbClr val="0070C0"/>
                </a:solidFill>
                <a:latin typeface="Calibri"/>
              </a:rPr>
              <a:t>HEADLINE CAPABILITIES</a:t>
            </a:r>
          </a:p>
        </p:txBody>
      </p:sp>
      <p:sp>
        <p:nvSpPr>
          <p:cNvPr id="61" name="Oval 60"/>
          <p:cNvSpPr/>
          <p:nvPr/>
        </p:nvSpPr>
        <p:spPr>
          <a:xfrm>
            <a:off x="8092440" y="3273552"/>
            <a:ext cx="274320" cy="274320"/>
          </a:xfrm>
          <a:prstGeom prst="ellipse">
            <a:avLst/>
          </a:prstGeom>
          <a:solidFill>
            <a:srgbClr val="15A4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2" name="Picture 61" descr="Check 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162" y="3335274"/>
            <a:ext cx="150876" cy="150876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8485632" y="325526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en-US">
                <a:solidFill>
                  <a:srgbClr val="1F497D"/>
                </a:solidFill>
                <a:latin typeface="Calibri"/>
              </a:rPr>
              <a:t>Procedural, Seed-Reproducible Scenarios</a:t>
            </a:r>
          </a:p>
        </p:txBody>
      </p:sp>
      <p:sp>
        <p:nvSpPr>
          <p:cNvPr id="64" name="Oval 63"/>
          <p:cNvSpPr/>
          <p:nvPr/>
        </p:nvSpPr>
        <p:spPr>
          <a:xfrm>
            <a:off x="8092440" y="3730752"/>
            <a:ext cx="274320" cy="274320"/>
          </a:xfrm>
          <a:prstGeom prst="ellipse">
            <a:avLst/>
          </a:prstGeom>
          <a:solidFill>
            <a:srgbClr val="15A4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5" name="Picture 64" descr="Check 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162" y="3792474"/>
            <a:ext cx="150876" cy="150876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8485632" y="371246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en-US">
                <a:solidFill>
                  <a:srgbClr val="1F497D"/>
                </a:solidFill>
                <a:latin typeface="Calibri"/>
              </a:rPr>
              <a:t>Zero-Install, Fully Offline PWA</a:t>
            </a:r>
          </a:p>
        </p:txBody>
      </p:sp>
      <p:sp>
        <p:nvSpPr>
          <p:cNvPr id="67" name="Oval 66"/>
          <p:cNvSpPr/>
          <p:nvPr/>
        </p:nvSpPr>
        <p:spPr>
          <a:xfrm>
            <a:off x="8092440" y="4187952"/>
            <a:ext cx="274320" cy="274320"/>
          </a:xfrm>
          <a:prstGeom prst="ellipse">
            <a:avLst/>
          </a:prstGeom>
          <a:solidFill>
            <a:srgbClr val="15A4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8" name="Picture 67" descr="Check 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162" y="4249674"/>
            <a:ext cx="150876" cy="150876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8485632" y="416966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en-US">
                <a:solidFill>
                  <a:srgbClr val="1F497D"/>
                </a:solidFill>
                <a:latin typeface="Calibri"/>
              </a:rPr>
              <a:t>Multi-Sensor Radar / EO / Thermal Feeds</a:t>
            </a:r>
          </a:p>
        </p:txBody>
      </p:sp>
      <p:sp>
        <p:nvSpPr>
          <p:cNvPr id="70" name="Oval 69"/>
          <p:cNvSpPr/>
          <p:nvPr/>
        </p:nvSpPr>
        <p:spPr>
          <a:xfrm>
            <a:off x="8092440" y="4645152"/>
            <a:ext cx="274320" cy="274320"/>
          </a:xfrm>
          <a:prstGeom prst="ellipse">
            <a:avLst/>
          </a:prstGeom>
          <a:solidFill>
            <a:srgbClr val="15A4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1" name="Picture 70" descr="Check 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162" y="4706874"/>
            <a:ext cx="150876" cy="150876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8485632" y="462686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en-US">
                <a:solidFill>
                  <a:srgbClr val="1F497D"/>
                </a:solidFill>
                <a:latin typeface="Calibri"/>
              </a:rPr>
              <a:t>Deterministic AAR &amp; Skill Analytics</a:t>
            </a:r>
          </a:p>
        </p:txBody>
      </p:sp>
      <p:sp>
        <p:nvSpPr>
          <p:cNvPr id="73" name="Oval 72"/>
          <p:cNvSpPr/>
          <p:nvPr/>
        </p:nvSpPr>
        <p:spPr>
          <a:xfrm>
            <a:off x="8092440" y="5102352"/>
            <a:ext cx="274320" cy="274320"/>
          </a:xfrm>
          <a:prstGeom prst="ellipse">
            <a:avLst/>
          </a:prstGeom>
          <a:solidFill>
            <a:srgbClr val="15A4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4" name="Picture 73" descr="Check 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162" y="5164074"/>
            <a:ext cx="150876" cy="150876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8485632" y="508406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en-US">
                <a:solidFill>
                  <a:srgbClr val="1F497D"/>
                </a:solidFill>
                <a:latin typeface="Calibri"/>
              </a:rPr>
              <a:t>Runs on Standard COTS Laptops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rPr sz="3200" b="1">
                <a:solidFill>
                  <a:srgbClr val="14345C"/>
                </a:solidFill>
                <a:latin typeface="Times New Roman"/>
              </a:rPr>
              <a:t>PROPOSED 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5448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300"/>
              <a:t>Phoenix 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2057400" y="91440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en-US">
                <a:solidFill>
                  <a:srgbClr val="566074"/>
                </a:solidFill>
                <a:latin typeface="Calibri"/>
              </a:rPr>
              <a:t>PROJECT PHOENIX-X: AI Drone &amp; Counter-Drone Threat Simulator  |  SIH26247 (MoD / DSSC)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548640" y="1298448"/>
            <a:ext cx="3564026" cy="2212848"/>
          </a:xfrm>
          <a:prstGeom prst="roundRect">
            <a:avLst>
              <a:gd name="adj" fmla="val 4958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364" name="Oval 15363"/>
          <p:cNvSpPr/>
          <p:nvPr/>
        </p:nvSpPr>
        <p:spPr>
          <a:xfrm>
            <a:off x="731520" y="1481328"/>
            <a:ext cx="457200" cy="457200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365" name="Picture 15364" descr="Core Concep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" y="1595628"/>
            <a:ext cx="228600" cy="228600"/>
          </a:xfrm>
          <a:prstGeom prst="rect">
            <a:avLst/>
          </a:prstGeom>
        </p:spPr>
      </p:pic>
      <p:sp>
        <p:nvSpPr>
          <p:cNvPr id="15366" name="TextBox 15365"/>
          <p:cNvSpPr txBox="1"/>
          <p:nvPr/>
        </p:nvSpPr>
        <p:spPr>
          <a:xfrm>
            <a:off x="731520" y="2084831"/>
            <a:ext cx="3198266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en-US">
                <a:solidFill>
                  <a:srgbClr val="14345C"/>
                </a:solidFill>
                <a:latin typeface="Calibri"/>
              </a:rPr>
              <a:t>Core Concept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731520" y="2523744"/>
            <a:ext cx="3198266" cy="8412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en-US">
                <a:solidFill>
                  <a:srgbClr val="1E2638"/>
                </a:solidFill>
                <a:latin typeface="Calibri"/>
              </a:rPr>
              <a:t>A lightweight, software-based simulation platform engineered for unit-level deployment to train defence personnel in detecting, classifying, and responding to drone and swarm threats across varied environments.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4313834" y="1298448"/>
            <a:ext cx="3564026" cy="2212848"/>
          </a:xfrm>
          <a:prstGeom prst="roundRect">
            <a:avLst>
              <a:gd name="adj" fmla="val 4958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369" name="Oval 15368"/>
          <p:cNvSpPr/>
          <p:nvPr/>
        </p:nvSpPr>
        <p:spPr>
          <a:xfrm>
            <a:off x="4496714" y="1481328"/>
            <a:ext cx="457200" cy="457200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370" name="Picture 15369" descr="How It Solves the Problem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1014" y="1595628"/>
            <a:ext cx="228600" cy="228600"/>
          </a:xfrm>
          <a:prstGeom prst="rect">
            <a:avLst/>
          </a:prstGeom>
        </p:spPr>
      </p:pic>
      <p:sp>
        <p:nvSpPr>
          <p:cNvPr id="15371" name="TextBox 15370"/>
          <p:cNvSpPr txBox="1"/>
          <p:nvPr/>
        </p:nvSpPr>
        <p:spPr>
          <a:xfrm>
            <a:off x="4496714" y="2084831"/>
            <a:ext cx="3198266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en-US">
                <a:solidFill>
                  <a:srgbClr val="14345C"/>
                </a:solidFill>
                <a:latin typeface="Calibri"/>
              </a:rPr>
              <a:t>How It Solves the Problem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4496714" y="2523744"/>
            <a:ext cx="3198266" cy="8412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en-US">
                <a:solidFill>
                  <a:srgbClr val="1E2638"/>
                </a:solidFill>
                <a:latin typeface="Calibri"/>
              </a:rPr>
              <a:t>Replaces expensive, weather-dependent, and infrequent live-fire drills with high-repetition synthetic practice running on standard military-issue laptops without requiring specialized hardware or cloud dependencies.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8079028" y="1298448"/>
            <a:ext cx="3564026" cy="2212848"/>
          </a:xfrm>
          <a:prstGeom prst="roundRect">
            <a:avLst>
              <a:gd name="adj" fmla="val 4958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374" name="Oval 15373"/>
          <p:cNvSpPr/>
          <p:nvPr/>
        </p:nvSpPr>
        <p:spPr>
          <a:xfrm>
            <a:off x="8261908" y="1481328"/>
            <a:ext cx="457200" cy="457200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375" name="Picture 15374" descr="Procedural Scenario DNA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6208" y="1595628"/>
            <a:ext cx="228600" cy="228600"/>
          </a:xfrm>
          <a:prstGeom prst="rect">
            <a:avLst/>
          </a:prstGeom>
        </p:spPr>
      </p:pic>
      <p:sp>
        <p:nvSpPr>
          <p:cNvPr id="15376" name="TextBox 15375"/>
          <p:cNvSpPr txBox="1"/>
          <p:nvPr/>
        </p:nvSpPr>
        <p:spPr>
          <a:xfrm>
            <a:off x="8261908" y="2084831"/>
            <a:ext cx="3198266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en-US">
                <a:solidFill>
                  <a:srgbClr val="14345C"/>
                </a:solidFill>
                <a:latin typeface="Calibri"/>
              </a:rPr>
              <a:t>Procedural Scenario DNA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8261908" y="2523744"/>
            <a:ext cx="3198266" cy="8412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en-US">
                <a:solidFill>
                  <a:srgbClr val="1E2638"/>
                </a:solidFill>
                <a:latin typeface="Calibri"/>
              </a:rPr>
              <a:t>Seed-reproducible generation of tactical environments across Day/Night, Urban/Rural/Open terrains, degraded sensor conditions (atmospheric noise, low visibility, sensor health degradation), and diverse threat profiles.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548640" y="3712463"/>
            <a:ext cx="5446623" cy="2551176"/>
          </a:xfrm>
          <a:prstGeom prst="roundRect">
            <a:avLst>
              <a:gd name="adj" fmla="val 4301"/>
            </a:avLst>
          </a:prstGeom>
          <a:solidFill>
            <a:srgbClr val="14345C"/>
          </a:solidFill>
          <a:ln w="9525">
            <a:solidFill>
              <a:srgbClr val="14345C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379" name="Oval 15378"/>
          <p:cNvSpPr/>
          <p:nvPr/>
        </p:nvSpPr>
        <p:spPr>
          <a:xfrm>
            <a:off x="768096" y="3913631"/>
            <a:ext cx="457200" cy="457200"/>
          </a:xfrm>
          <a:prstGeom prst="ellipse">
            <a:avLst/>
          </a:prstGeom>
          <a:solidFill>
            <a:srgbClr val="1E4A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380" name="Picture 15379" descr="Decision-Tree Cognitive Evaluation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396" y="4027931"/>
            <a:ext cx="228600" cy="228600"/>
          </a:xfrm>
          <a:prstGeom prst="rect">
            <a:avLst/>
          </a:prstGeom>
        </p:spPr>
      </p:pic>
      <p:sp>
        <p:nvSpPr>
          <p:cNvPr id="15381" name="TextBox 15380"/>
          <p:cNvSpPr txBox="1"/>
          <p:nvPr/>
        </p:nvSpPr>
        <p:spPr>
          <a:xfrm>
            <a:off x="1371600" y="3913631"/>
            <a:ext cx="4440783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en-US">
                <a:solidFill>
                  <a:srgbClr val="FFFFFF"/>
                </a:solidFill>
                <a:latin typeface="Calibri"/>
              </a:rPr>
              <a:t>Decision-Tree Cognitive Evaluation</a:t>
            </a:r>
          </a:p>
        </p:txBody>
      </p:sp>
      <p:sp>
        <p:nvSpPr>
          <p:cNvPr id="15382" name="TextBox 15381"/>
          <p:cNvSpPr txBox="1"/>
          <p:nvPr/>
        </p:nvSpPr>
        <p:spPr>
          <a:xfrm>
            <a:off x="768096" y="4553712"/>
            <a:ext cx="5007711" cy="1545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en-US">
                <a:solidFill>
                  <a:srgbClr val="E4ECF7"/>
                </a:solidFill>
                <a:latin typeface="Calibri"/>
              </a:rPr>
              <a:t>Scores operators deterministically on detection reaction latency, multi-class classification accuracy (Benign / Unknown / Unusual), confidence calibration, and abstract engagement decisions (Monitor / Escalate / Resolve).</a:t>
            </a:r>
          </a:p>
        </p:txBody>
      </p:sp>
      <p:sp>
        <p:nvSpPr>
          <p:cNvPr id="15383" name="Rounded Rectangle 15382"/>
          <p:cNvSpPr/>
          <p:nvPr/>
        </p:nvSpPr>
        <p:spPr>
          <a:xfrm>
            <a:off x="6196431" y="3712463"/>
            <a:ext cx="5446623" cy="2551176"/>
          </a:xfrm>
          <a:prstGeom prst="roundRect">
            <a:avLst>
              <a:gd name="adj" fmla="val 4301"/>
            </a:avLst>
          </a:prstGeom>
          <a:solidFill>
            <a:srgbClr val="14345C"/>
          </a:solidFill>
          <a:ln w="9525">
            <a:solidFill>
              <a:srgbClr val="14345C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384" name="Oval 15383"/>
          <p:cNvSpPr/>
          <p:nvPr/>
        </p:nvSpPr>
        <p:spPr>
          <a:xfrm>
            <a:off x="6415887" y="3913631"/>
            <a:ext cx="457200" cy="457200"/>
          </a:xfrm>
          <a:prstGeom prst="ellipse">
            <a:avLst/>
          </a:prstGeom>
          <a:solidFill>
            <a:srgbClr val="1E4A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385" name="Picture 15384" descr="After-Action Review (AAR) &amp; Analytics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0187" y="4027931"/>
            <a:ext cx="228600" cy="228600"/>
          </a:xfrm>
          <a:prstGeom prst="rect">
            <a:avLst/>
          </a:prstGeom>
        </p:spPr>
      </p:pic>
      <p:sp>
        <p:nvSpPr>
          <p:cNvPr id="15386" name="TextBox 15385"/>
          <p:cNvSpPr txBox="1"/>
          <p:nvPr/>
        </p:nvSpPr>
        <p:spPr>
          <a:xfrm>
            <a:off x="7019391" y="3913631"/>
            <a:ext cx="2600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en-US">
                <a:solidFill>
                  <a:srgbClr val="FFFFFF"/>
                </a:solidFill>
                <a:latin typeface="Calibri"/>
              </a:rPr>
              <a:t>After-Action Review (AAR) &amp; Analytics</a:t>
            </a:r>
          </a:p>
        </p:txBody>
      </p:sp>
      <p:sp>
        <p:nvSpPr>
          <p:cNvPr id="15387" name="TextBox 15386"/>
          <p:cNvSpPr txBox="1"/>
          <p:nvPr/>
        </p:nvSpPr>
        <p:spPr>
          <a:xfrm>
            <a:off x="6415887" y="4553712"/>
            <a:ext cx="5007711" cy="1545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en-US">
                <a:solidFill>
                  <a:srgbClr val="E4ECF7"/>
                </a:solidFill>
                <a:latin typeface="Calibri"/>
              </a:rPr>
              <a:t>Delivers millisecond-accurate timeline event replays, automated strengths/mistakes coaching diagnostics, and longitudinal unit-level skill retention tracking across repeated sessions to eliminate rote learning.</a:t>
            </a:r>
          </a:p>
        </p:txBody>
      </p:sp>
      <p:pic>
        <p:nvPicPr>
          <p:cNvPr id="15388" name="Picture 15387" descr="swarm_threat_sim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00000" y="4000000"/>
            <a:ext cx="2200000" cy="1237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5448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300"/>
              <a:t>Phoenix X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2057400" y="91440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en-US">
                <a:solidFill>
                  <a:srgbClr val="566074"/>
                </a:solidFill>
                <a:latin typeface="Calibri"/>
              </a:rPr>
              <a:t>PROJECT PHOENIX-X: AI Drone &amp; Counter-Drone Threat Simulator  |  SIH26247 (MoD / DSSC)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1298448"/>
            <a:ext cx="11094415" cy="4965192"/>
          </a:xfrm>
          <a:prstGeom prst="roundRect">
            <a:avLst>
              <a:gd name="adj" fmla="val 2209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768096" y="1463039"/>
            <a:ext cx="3394252" cy="256032"/>
          </a:xfrm>
          <a:prstGeom prst="roundRect">
            <a:avLst>
              <a:gd name="adj" fmla="val 50000"/>
            </a:avLst>
          </a:prstGeom>
          <a:solidFill>
            <a:srgbClr val="E1EE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768096" y="1463039"/>
            <a:ext cx="339425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 spc="80">
                <a:solidFill>
                  <a:srgbClr val="0070C0"/>
                </a:solidFill>
                <a:latin typeface="Calibri"/>
              </a:rPr>
              <a:t>SYSTEM ARCHITECTURE &amp; IMPLEMENTATION</a:t>
            </a:r>
          </a:p>
        </p:txBody>
      </p:sp>
      <p:sp>
        <p:nvSpPr>
          <p:cNvPr id="17414" name="Oval 17413"/>
          <p:cNvSpPr/>
          <p:nvPr/>
        </p:nvSpPr>
        <p:spPr>
          <a:xfrm>
            <a:off x="822959" y="2060143"/>
            <a:ext cx="420624" cy="420624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15" name="Picture 17414" descr="System Architecture &amp; Stac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09" y="2161092"/>
            <a:ext cx="218724" cy="218724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1463040" y="1892807"/>
            <a:ext cx="2834640" cy="75529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80" b="1" i="0" lang="en-US">
                <a:solidFill>
                  <a:srgbClr val="14345C"/>
                </a:solidFill>
                <a:latin typeface="Calibri"/>
              </a:rPr>
              <a:t>System Architecture &amp; Stack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480559" y="1865376"/>
            <a:ext cx="6796735" cy="8467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30" b="0" i="0" lang="en-US">
                <a:solidFill>
                  <a:srgbClr val="1E2638"/>
                </a:solidFill>
                <a:latin typeface="Calibri"/>
              </a:rPr>
              <a:t>Local-first modular architecture combining a deterministic fixed-step simulation engine, client-side React 19/TypeScript cockpit, Babylon.js 3D/2D tactical viewport, and optional Python 1-click launcher.</a:t>
            </a:r>
          </a:p>
        </p:txBody>
      </p:sp>
      <p:cxnSp>
        <p:nvCxnSpPr>
          <p:cNvPr id="17418" name="Connector 17417"/>
          <p:cNvCxnSpPr/>
          <p:nvPr/>
        </p:nvCxnSpPr>
        <p:spPr>
          <a:xfrm>
            <a:off x="822959" y="2675534"/>
            <a:ext cx="10545776" cy="0"/>
          </a:xfrm>
          <a:prstGeom prst="line">
            <a:avLst/>
          </a:prstGeom>
          <a:ln w="9525">
            <a:solidFill>
              <a:srgbClr val="D9E2EE"/>
            </a:solidFill>
          </a:ln>
        </p:spPr>
      </p:cxnSp>
      <p:sp>
        <p:nvSpPr>
          <p:cNvPr id="17419" name="Oval 17418"/>
          <p:cNvSpPr/>
          <p:nvPr/>
        </p:nvSpPr>
        <p:spPr>
          <a:xfrm>
            <a:off x="822959" y="2906877"/>
            <a:ext cx="420624" cy="420624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20" name="Picture 17419" descr="Multi-Sensor Threat Perception Suit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09" y="3007827"/>
            <a:ext cx="218724" cy="218724"/>
          </a:xfrm>
          <a:prstGeom prst="rect">
            <a:avLst/>
          </a:prstGeom>
        </p:spPr>
      </p:pic>
      <p:sp>
        <p:nvSpPr>
          <p:cNvPr id="17421" name="TextBox 17420"/>
          <p:cNvSpPr txBox="1"/>
          <p:nvPr/>
        </p:nvSpPr>
        <p:spPr>
          <a:xfrm>
            <a:off x="1463040" y="2739542"/>
            <a:ext cx="4200000" cy="75529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80" b="1" i="0" lang="en-US">
                <a:solidFill>
                  <a:srgbClr val="14345C"/>
                </a:solidFill>
                <a:latin typeface="Calibri"/>
              </a:rPr>
              <a:t>Multi-Sensor Threat Perception Suite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4480559" y="2712110"/>
            <a:ext cx="6796735" cy="8467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30" b="0" i="0" lang="en-US">
                <a:solidFill>
                  <a:srgbClr val="1E2638"/>
                </a:solidFill>
                <a:latin typeface="Calibri"/>
              </a:rPr>
              <a:t>Simulates simultaneous feeds including 3D Radar PPI Scope (range, bearing, velocity vectors), Electro-Optical (EO) daylight/night surveillance, and Thermal-like LWIR contrast feeds with synthetic noise degradation.</a:t>
            </a:r>
          </a:p>
        </p:txBody>
      </p:sp>
      <p:cxnSp>
        <p:nvCxnSpPr>
          <p:cNvPr id="17423" name="Connector 17422"/>
          <p:cNvCxnSpPr/>
          <p:nvPr/>
        </p:nvCxnSpPr>
        <p:spPr>
          <a:xfrm>
            <a:off x="822959" y="3522268"/>
            <a:ext cx="10545776" cy="0"/>
          </a:xfrm>
          <a:prstGeom prst="line">
            <a:avLst/>
          </a:prstGeom>
          <a:ln w="9525">
            <a:solidFill>
              <a:srgbClr val="D9E2EE"/>
            </a:solidFill>
          </a:ln>
        </p:spPr>
      </p:cxnSp>
      <p:sp>
        <p:nvSpPr>
          <p:cNvPr id="17424" name="Oval 17423"/>
          <p:cNvSpPr/>
          <p:nvPr/>
        </p:nvSpPr>
        <p:spPr>
          <a:xfrm>
            <a:off x="822959" y="3753612"/>
            <a:ext cx="420624" cy="420624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25" name="Picture 17424" descr="Kinematic Modeling &amp; Swarm Trajectories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09" y="3854561"/>
            <a:ext cx="218724" cy="218724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1463040" y="3586276"/>
            <a:ext cx="4200000" cy="75529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80" b="1" i="0" lang="en-US">
                <a:solidFill>
                  <a:srgbClr val="14345C"/>
                </a:solidFill>
                <a:latin typeface="Calibri"/>
              </a:rPr>
              <a:t>Kinematic Modeling &amp; Swarm Trajectories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4480559" y="3558844"/>
            <a:ext cx="6796735" cy="8467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30" b="0" i="0" lang="en-US">
                <a:solidFill>
                  <a:srgbClr val="1E2638"/>
                </a:solidFill>
                <a:latin typeface="Calibri"/>
              </a:rPr>
              <a:t>Physics-grounded 3D path generation modeling individual Micro/Mini drones, fast loitering targets, and multi-agent swarm formations with dynamic speed, altitude, and bearing variations.</a:t>
            </a:r>
          </a:p>
        </p:txBody>
      </p:sp>
      <p:cxnSp>
        <p:nvCxnSpPr>
          <p:cNvPr id="17428" name="Connector 17427"/>
          <p:cNvCxnSpPr/>
          <p:nvPr/>
        </p:nvCxnSpPr>
        <p:spPr>
          <a:xfrm>
            <a:off x="822959" y="4369003"/>
            <a:ext cx="10545776" cy="0"/>
          </a:xfrm>
          <a:prstGeom prst="line">
            <a:avLst/>
          </a:prstGeom>
          <a:ln w="9525">
            <a:solidFill>
              <a:srgbClr val="D9E2EE"/>
            </a:solidFill>
          </a:ln>
        </p:spPr>
      </p:cxnSp>
      <p:sp>
        <p:nvSpPr>
          <p:cNvPr id="17429" name="Oval 17428"/>
          <p:cNvSpPr/>
          <p:nvPr/>
        </p:nvSpPr>
        <p:spPr>
          <a:xfrm>
            <a:off x="822959" y="4600346"/>
            <a:ext cx="420624" cy="420624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30" name="Picture 17429" descr="Anti-Cheat Ground-Truth Hard Boundary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909" y="4701296"/>
            <a:ext cx="218724" cy="218724"/>
          </a:xfrm>
          <a:prstGeom prst="rect">
            <a:avLst/>
          </a:prstGeom>
        </p:spPr>
      </p:pic>
      <p:sp>
        <p:nvSpPr>
          <p:cNvPr id="17431" name="TextBox 17430"/>
          <p:cNvSpPr txBox="1"/>
          <p:nvPr/>
        </p:nvSpPr>
        <p:spPr>
          <a:xfrm>
            <a:off x="1463040" y="4433011"/>
            <a:ext cx="2834640" cy="75529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80" b="1" i="0" lang="en-US">
                <a:solidFill>
                  <a:srgbClr val="14345C"/>
                </a:solidFill>
                <a:latin typeface="Calibri"/>
              </a:rPr>
              <a:t>Anti-Cheat Ground-Truth Hard Boundary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4480559" y="4405579"/>
            <a:ext cx="6796735" cy="8467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30" b="0" i="0" lang="en-US">
                <a:solidFill>
                  <a:srgbClr val="1E2638"/>
                </a:solidFill>
                <a:latin typeface="Calibri"/>
              </a:rPr>
              <a:t>Simulation ground truth is strictly sealed in the engine; trainee classifications and confidence inputs can never overwrite actual entity states, guaranteeing 100% auditable scoring integrity.</a:t>
            </a:r>
          </a:p>
        </p:txBody>
      </p:sp>
      <p:cxnSp>
        <p:nvCxnSpPr>
          <p:cNvPr id="17433" name="Connector 17432"/>
          <p:cNvCxnSpPr/>
          <p:nvPr/>
        </p:nvCxnSpPr>
        <p:spPr>
          <a:xfrm>
            <a:off x="822959" y="5215737"/>
            <a:ext cx="10545776" cy="0"/>
          </a:xfrm>
          <a:prstGeom prst="line">
            <a:avLst/>
          </a:prstGeom>
          <a:ln w="9525">
            <a:solidFill>
              <a:srgbClr val="D9E2EE"/>
            </a:solidFill>
          </a:ln>
        </p:spPr>
      </p:cxnSp>
      <p:sp>
        <p:nvSpPr>
          <p:cNvPr id="17434" name="Oval 17433"/>
          <p:cNvSpPr/>
          <p:nvPr/>
        </p:nvSpPr>
        <p:spPr>
          <a:xfrm>
            <a:off x="822959" y="5447080"/>
            <a:ext cx="420624" cy="420624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35" name="Picture 17434" descr="Offline Persistence &amp; Zero-Dependency Execution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909" y="5548030"/>
            <a:ext cx="218724" cy="218724"/>
          </a:xfrm>
          <a:prstGeom prst="rect">
            <a:avLst/>
          </a:prstGeom>
        </p:spPr>
      </p:pic>
      <p:sp>
        <p:nvSpPr>
          <p:cNvPr id="17436" name="TextBox 17435"/>
          <p:cNvSpPr txBox="1"/>
          <p:nvPr/>
        </p:nvSpPr>
        <p:spPr>
          <a:xfrm>
            <a:off x="1463040" y="5279745"/>
            <a:ext cx="2834640" cy="75529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80" b="1" i="0" lang="en-US">
                <a:solidFill>
                  <a:srgbClr val="14345C"/>
                </a:solidFill>
                <a:latin typeface="Calibri"/>
              </a:rPr>
              <a:t>Offline Persistence &amp; Zero-Dependency Execution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4480559" y="5252313"/>
            <a:ext cx="6796735" cy="8467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30" b="0" i="0" lang="en-US">
                <a:solidFill>
                  <a:srgbClr val="1E2638"/>
                </a:solidFill>
                <a:latin typeface="Calibri"/>
              </a:rPr>
              <a:t>Local IndexedDB / Dexie client-side persistence and single-file canvas companion enabling instant zero-install execution on forward-deployed hardware without internet connectivity.</a:t>
            </a:r>
          </a:p>
        </p:txBody>
      </p:sp>
      <p:pic>
        <p:nvPicPr>
          <p:cNvPr id="17438" name="Picture 17437" descr="cuas_radar_hud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00000" y="2600000"/>
            <a:ext cx="2400000" cy="135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5448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300"/>
              <a:t>Phoenix 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2057400" y="91440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en-US">
                <a:solidFill>
                  <a:srgbClr val="566074"/>
                </a:solidFill>
                <a:latin typeface="Calibri"/>
              </a:rPr>
              <a:t>PROJECT PHOENIX-X: AI Drone &amp; Counter-Drone Threat Simulator  |  SIH26247 (MoD / DSSC)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1298448"/>
            <a:ext cx="5446623" cy="137160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12" name="Oval 17411"/>
          <p:cNvSpPr/>
          <p:nvPr/>
        </p:nvSpPr>
        <p:spPr>
          <a:xfrm>
            <a:off x="749808" y="1481328"/>
            <a:ext cx="384048" cy="384048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13" name="Picture 17412" descr="Feasibility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19" y="1577339"/>
            <a:ext cx="192024" cy="192024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1261872" y="1481328"/>
            <a:ext cx="4532223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en-US">
                <a:solidFill>
                  <a:srgbClr val="14345C"/>
                </a:solidFill>
                <a:latin typeface="Calibri"/>
              </a:rPr>
              <a:t>Feasibility Analysis (Unit-Level Usability)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749808" y="1956815"/>
            <a:ext cx="5044287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30" b="0" i="0" lang="en-US">
                <a:solidFill>
                  <a:srgbClr val="1E2638"/>
                </a:solidFill>
                <a:latin typeface="Calibri"/>
              </a:rPr>
              <a:t>Engineered specifically for low-overhead execution. Runs smoothly on standard COTS laptops (integrated graphics, 4GB RAM) with zero dependency on expensive external GPU rigs, physical radar hardware, or VR headsets.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196431" y="1298448"/>
            <a:ext cx="5446623" cy="1371600"/>
          </a:xfrm>
          <a:prstGeom prst="roundRect">
            <a:avLst>
              <a:gd name="adj" fmla="val 8000"/>
            </a:avLst>
          </a:prstGeom>
          <a:solidFill>
            <a:srgbClr val="14345C"/>
          </a:solidFill>
          <a:ln w="9525">
            <a:solidFill>
              <a:srgbClr val="14345C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17" name="Oval 17416"/>
          <p:cNvSpPr/>
          <p:nvPr/>
        </p:nvSpPr>
        <p:spPr>
          <a:xfrm>
            <a:off x="6397599" y="1481328"/>
            <a:ext cx="384048" cy="384048"/>
          </a:xfrm>
          <a:prstGeom prst="ellipse">
            <a:avLst/>
          </a:prstGeom>
          <a:solidFill>
            <a:srgbClr val="1E4A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18" name="Picture 17417" descr="Operational viability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3611" y="1577339"/>
            <a:ext cx="192024" cy="192024"/>
          </a:xfrm>
          <a:prstGeom prst="rect">
            <a:avLst/>
          </a:prstGeom>
        </p:spPr>
      </p:pic>
      <p:sp>
        <p:nvSpPr>
          <p:cNvPr id="17419" name="TextBox 17418"/>
          <p:cNvSpPr txBox="1"/>
          <p:nvPr/>
        </p:nvSpPr>
        <p:spPr>
          <a:xfrm>
            <a:off x="6909663" y="1481328"/>
            <a:ext cx="4532223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en-US">
                <a:solidFill>
                  <a:srgbClr val="FFFFFF"/>
                </a:solidFill>
                <a:latin typeface="Calibri"/>
              </a:rPr>
              <a:t>Operational Viability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397599" y="1956815"/>
            <a:ext cx="320000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30" b="0" i="0" lang="en-US">
                <a:solidFill>
                  <a:srgbClr val="E4ECF7"/>
                </a:solidFill>
                <a:latin typeface="Calibri"/>
              </a:rPr>
              <a:t>Immediately adoptable by training establishments (such as the Defence Services Staff College) for tactical officer decision-making drills before conducting costly live-fire range exercises.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548640" y="2852928"/>
            <a:ext cx="11094415" cy="3410711"/>
          </a:xfrm>
          <a:prstGeom prst="roundRect">
            <a:avLst>
              <a:gd name="adj" fmla="val 3217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22" name="Rounded Rectangle 17421"/>
          <p:cNvSpPr/>
          <p:nvPr/>
        </p:nvSpPr>
        <p:spPr>
          <a:xfrm>
            <a:off x="768096" y="2999232"/>
            <a:ext cx="3226003" cy="256032"/>
          </a:xfrm>
          <a:prstGeom prst="roundRect">
            <a:avLst>
              <a:gd name="adj" fmla="val 50000"/>
            </a:avLst>
          </a:prstGeom>
          <a:solidFill>
            <a:srgbClr val="F7E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768096" y="2999232"/>
            <a:ext cx="3226003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 spc="80">
                <a:solidFill>
                  <a:srgbClr val="A10000"/>
                </a:solidFill>
                <a:latin typeface="Calibri"/>
              </a:rPr>
              <a:t>TOP RISKS → ENGINEERED MITIGATIONS</a:t>
            </a:r>
          </a:p>
        </p:txBody>
      </p:sp>
      <p:sp>
        <p:nvSpPr>
          <p:cNvPr id="17424" name="Oval 17423"/>
          <p:cNvSpPr/>
          <p:nvPr/>
        </p:nvSpPr>
        <p:spPr>
          <a:xfrm>
            <a:off x="768096" y="3364992"/>
            <a:ext cx="329184" cy="329184"/>
          </a:xfrm>
          <a:prstGeom prst="ellipse">
            <a:avLst/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768096" y="336499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en-US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1207007" y="3346704"/>
            <a:ext cx="299100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en-US">
                <a:solidFill>
                  <a:srgbClr val="14345C"/>
                </a:solidFill>
                <a:latin typeface="Calibri"/>
              </a:rPr>
              <a:t>Rote Learning &amp; Predictability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768096" y="3931920"/>
            <a:ext cx="3429914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en-US">
                <a:solidFill>
                  <a:srgbClr val="A10000"/>
                </a:solidFill>
                <a:latin typeface="Calibri"/>
              </a:rPr>
              <a:t>Risk: </a:t>
            </a:r>
            <a:r>
              <a:rPr sz="1150" b="0" i="0" lang="en-US">
                <a:solidFill>
                  <a:srgbClr val="1E2638"/>
                </a:solidFill>
                <a:latin typeface="Calibri"/>
              </a:rPr>
              <a:t>Trainees memorize fixed drone paths.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768096" y="4480560"/>
            <a:ext cx="3429914" cy="18562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en-US">
                <a:solidFill>
                  <a:srgbClr val="B35A00"/>
                </a:solidFill>
                <a:latin typeface="Calibri"/>
              </a:rPr>
              <a:t>→ </a:t>
            </a:r>
            <a:r>
              <a:rPr sz="1150" b="0" i="0" lang="en-US">
                <a:solidFill>
                  <a:srgbClr val="1E2638"/>
                </a:solidFill>
                <a:latin typeface="Calibri"/>
              </a:rPr>
              <a:t>Pseudorandom Seeded Scenario DNA alters approach vectors, spawn times, environmental visibility, and noise in every run while remaining fully reproducible for instructor evaluation.</a:t>
            </a:r>
          </a:p>
        </p:txBody>
      </p:sp>
      <p:sp>
        <p:nvSpPr>
          <p:cNvPr id="17429" name="Oval 17428"/>
          <p:cNvSpPr/>
          <p:nvPr/>
        </p:nvSpPr>
        <p:spPr>
          <a:xfrm>
            <a:off x="4380890" y="3364992"/>
            <a:ext cx="329184" cy="329184"/>
          </a:xfrm>
          <a:prstGeom prst="ellipse">
            <a:avLst/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0" name="TextBox 17429"/>
          <p:cNvSpPr txBox="1"/>
          <p:nvPr/>
        </p:nvSpPr>
        <p:spPr>
          <a:xfrm>
            <a:off x="4380890" y="336499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en-US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4819802" y="3346704"/>
            <a:ext cx="299100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en-US">
                <a:solidFill>
                  <a:srgbClr val="14345C"/>
                </a:solidFill>
                <a:latin typeface="Calibri"/>
              </a:rPr>
              <a:t>Connectivity &amp; Field Environment Outages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4380890" y="3931920"/>
            <a:ext cx="3429914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en-US">
                <a:solidFill>
                  <a:srgbClr val="A10000"/>
                </a:solidFill>
                <a:latin typeface="Calibri"/>
              </a:rPr>
              <a:t>Risk: </a:t>
            </a:r>
            <a:r>
              <a:rPr sz="1150" b="0" i="0" lang="en-US">
                <a:solidFill>
                  <a:srgbClr val="1E2638"/>
                </a:solidFill>
                <a:latin typeface="Calibri"/>
              </a:rPr>
              <a:t>Forward bases have zero internet access.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4380890" y="4480560"/>
            <a:ext cx="3429914" cy="18562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en-US">
                <a:solidFill>
                  <a:srgbClr val="B35A00"/>
                </a:solidFill>
                <a:latin typeface="Calibri"/>
              </a:rPr>
              <a:t>→ </a:t>
            </a:r>
            <a:r>
              <a:rPr sz="1150" b="0" i="0" lang="en-US">
                <a:solidFill>
                  <a:srgbClr val="1E2638"/>
                </a:solidFill>
                <a:latin typeface="Calibri"/>
              </a:rPr>
              <a:t>Fully local-first Progressive Web App (PWA) with self-contained assets and bundled evidence clips ensuring 100% offline mission readiness.</a:t>
            </a:r>
          </a:p>
        </p:txBody>
      </p:sp>
      <p:sp>
        <p:nvSpPr>
          <p:cNvPr id="17434" name="Oval 17433"/>
          <p:cNvSpPr/>
          <p:nvPr/>
        </p:nvSpPr>
        <p:spPr>
          <a:xfrm>
            <a:off x="7993684" y="3364992"/>
            <a:ext cx="329184" cy="329184"/>
          </a:xfrm>
          <a:prstGeom prst="ellipse">
            <a:avLst/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7993684" y="336499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en-US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8432596" y="3346704"/>
            <a:ext cx="299100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en-US">
                <a:solidFill>
                  <a:srgbClr val="14345C"/>
                </a:solidFill>
                <a:latin typeface="Calibri"/>
              </a:rPr>
              <a:t>Complex Deployment Overhead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7993684" y="3931920"/>
            <a:ext cx="3429914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en-US">
                <a:solidFill>
                  <a:srgbClr val="A10000"/>
                </a:solidFill>
                <a:latin typeface="Calibri"/>
              </a:rPr>
              <a:t>Risk: </a:t>
            </a:r>
            <a:r>
              <a:rPr sz="1150" b="0" i="0" lang="en-US">
                <a:solidFill>
                  <a:srgbClr val="1E2638"/>
                </a:solidFill>
                <a:latin typeface="Calibri"/>
              </a:rPr>
              <a:t>Defence units cannot troubleshoot complex installation scripts.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7993684" y="4480560"/>
            <a:ext cx="3429914" cy="18562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en-US">
                <a:solidFill>
                  <a:srgbClr val="B35A00"/>
                </a:solidFill>
                <a:latin typeface="Calibri"/>
              </a:rPr>
              <a:t>→ </a:t>
            </a:r>
            <a:r>
              <a:rPr sz="1150" b="0" i="0" lang="en-US">
                <a:solidFill>
                  <a:srgbClr val="1E2638"/>
                </a:solidFill>
                <a:latin typeface="Calibri"/>
              </a:rPr>
              <a:t>Provided with a 1-click Python launcher (python3 launch_demo.py) and a standalone zero-dependency mobile/desktop preview.</a:t>
            </a:r>
          </a:p>
        </p:txBody>
      </p:sp>
      <p:pic>
        <p:nvPicPr>
          <p:cNvPr id="17439" name="Picture 17438" descr="field_training_laptop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0000" y="1400000"/>
            <a:ext cx="1650000" cy="92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5448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300"/>
              <a:t>Phoenix 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2057400" y="91440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en-US">
                <a:solidFill>
                  <a:srgbClr val="566074"/>
                </a:solidFill>
                <a:latin typeface="Calibri"/>
              </a:rPr>
              <a:t>PROJECT PHOENIX-X: AI Drone &amp; Counter-Drone Threat Simulator  |  SIH26247 (MoD / DSSC)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1298448"/>
            <a:ext cx="2072579" cy="4965192"/>
          </a:xfrm>
          <a:prstGeom prst="roundRect">
            <a:avLst>
              <a:gd name="adj" fmla="val 5294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12" name="Oval 17411"/>
          <p:cNvSpPr/>
          <p:nvPr/>
        </p:nvSpPr>
        <p:spPr>
          <a:xfrm>
            <a:off x="1328897" y="1517904"/>
            <a:ext cx="512064" cy="512064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13" name="Picture 17412" descr="Dramatic Cost Reduction &amp; Resource Optimization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6913" y="1645919"/>
            <a:ext cx="256032" cy="256032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676656" y="2139696"/>
            <a:ext cx="1816547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en-US">
                <a:solidFill>
                  <a:srgbClr val="14345C"/>
                </a:solidFill>
                <a:latin typeface="Calibri"/>
              </a:rPr>
              <a:t>Dramatic Cost Reduction &amp; Resource Optimization</a:t>
            </a:r>
          </a:p>
        </p:txBody>
      </p:sp>
      <p:cxnSp>
        <p:nvCxnSpPr>
          <p:cNvPr id="17415" name="Connector 17414"/>
          <p:cNvCxnSpPr/>
          <p:nvPr/>
        </p:nvCxnSpPr>
        <p:spPr>
          <a:xfrm>
            <a:off x="822959" y="3054096"/>
            <a:ext cx="1523940" cy="0"/>
          </a:xfrm>
          <a:prstGeom prst="line">
            <a:avLst/>
          </a:prstGeom>
          <a:ln w="12700">
            <a:solidFill>
              <a:srgbClr val="D9E2EE"/>
            </a:solidFill>
          </a:ln>
        </p:spPr>
      </p:cxnSp>
      <p:sp>
        <p:nvSpPr>
          <p:cNvPr id="17416" name="TextBox 17415"/>
          <p:cNvSpPr txBox="1"/>
          <p:nvPr/>
        </p:nvSpPr>
        <p:spPr>
          <a:xfrm>
            <a:off x="704088" y="3200400"/>
            <a:ext cx="1761683" cy="2862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60" b="0" i="0" lang="en-US">
                <a:solidFill>
                  <a:srgbClr val="1E2638"/>
                </a:solidFill>
                <a:latin typeface="Calibri"/>
              </a:rPr>
              <a:t>Eliminates the immense recurring expense of expending target drones, fuel, and specialized range safety infrastructure. Delivers unlimited virtual training repetitions at zero per-drill consumable cost.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2804099" y="1298448"/>
            <a:ext cx="2072579" cy="4965192"/>
          </a:xfrm>
          <a:prstGeom prst="roundRect">
            <a:avLst>
              <a:gd name="adj" fmla="val 5294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18" name="Oval 17417"/>
          <p:cNvSpPr/>
          <p:nvPr/>
        </p:nvSpPr>
        <p:spPr>
          <a:xfrm>
            <a:off x="3584356" y="1517904"/>
            <a:ext cx="512064" cy="512064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19" name="Picture 17418" descr="High-Repetition Cognitive Muscle Memory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2372" y="1645919"/>
            <a:ext cx="256032" cy="256032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2932115" y="2139696"/>
            <a:ext cx="1816547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en-US">
                <a:solidFill>
                  <a:srgbClr val="14345C"/>
                </a:solidFill>
                <a:latin typeface="Calibri"/>
              </a:rPr>
              <a:t>High-Repetition Cognitive Muscle Memory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3078419" y="3054096"/>
            <a:ext cx="1523939" cy="0"/>
          </a:xfrm>
          <a:prstGeom prst="line">
            <a:avLst/>
          </a:prstGeom>
          <a:ln w="12700">
            <a:solidFill>
              <a:srgbClr val="D9E2EE"/>
            </a:solidFill>
          </a:ln>
        </p:spPr>
      </p:cxnSp>
      <p:sp>
        <p:nvSpPr>
          <p:cNvPr id="17422" name="TextBox 17421"/>
          <p:cNvSpPr txBox="1"/>
          <p:nvPr/>
        </p:nvSpPr>
        <p:spPr>
          <a:xfrm>
            <a:off x="2959547" y="3200400"/>
            <a:ext cx="1761683" cy="2862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60" b="0" i="0" lang="en-US">
                <a:solidFill>
                  <a:srgbClr val="1E2638"/>
                </a:solidFill>
                <a:latin typeface="Calibri"/>
              </a:rPr>
              <a:t>Enables soldiers and officers to experience 50+ diverse swarm and single-drone threat scenarios per week, building rapid decision reflexes under time pressure and degraded visibility.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5059558" y="1298448"/>
            <a:ext cx="2072579" cy="4965192"/>
          </a:xfrm>
          <a:prstGeom prst="roundRect">
            <a:avLst>
              <a:gd name="adj" fmla="val 5294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24" name="Oval 17423"/>
          <p:cNvSpPr/>
          <p:nvPr/>
        </p:nvSpPr>
        <p:spPr>
          <a:xfrm>
            <a:off x="5839815" y="1517904"/>
            <a:ext cx="512064" cy="512064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25" name="Picture 17424" descr="All-Weather &amp; 24/7 Training Availability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7831" y="1645919"/>
            <a:ext cx="256032" cy="256032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5187574" y="2139696"/>
            <a:ext cx="1816547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en-US">
                <a:solidFill>
                  <a:srgbClr val="14345C"/>
                </a:solidFill>
                <a:latin typeface="Calibri"/>
              </a:rPr>
              <a:t>All-Weather &amp; 24/7 Training Availability</a:t>
            </a:r>
          </a:p>
        </p:txBody>
      </p:sp>
      <p:cxnSp>
        <p:nvCxnSpPr>
          <p:cNvPr id="17427" name="Connector 17426"/>
          <p:cNvCxnSpPr/>
          <p:nvPr/>
        </p:nvCxnSpPr>
        <p:spPr>
          <a:xfrm>
            <a:off x="5333878" y="3054096"/>
            <a:ext cx="1523939" cy="0"/>
          </a:xfrm>
          <a:prstGeom prst="line">
            <a:avLst/>
          </a:prstGeom>
          <a:ln w="12700">
            <a:solidFill>
              <a:srgbClr val="D9E2EE"/>
            </a:solidFill>
          </a:ln>
        </p:spPr>
      </p:cxnSp>
      <p:sp>
        <p:nvSpPr>
          <p:cNvPr id="17428" name="TextBox 17427"/>
          <p:cNvSpPr txBox="1"/>
          <p:nvPr/>
        </p:nvSpPr>
        <p:spPr>
          <a:xfrm>
            <a:off x="5215006" y="3200400"/>
            <a:ext cx="1761683" cy="2862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60" b="0" i="0" lang="en-US">
                <a:solidFill>
                  <a:srgbClr val="1E2638"/>
                </a:solidFill>
                <a:latin typeface="Calibri"/>
              </a:rPr>
              <a:t>Training schedules are no longer canceled due to adverse weather, airspace restrictions, or range scheduling conflicts, ensuring continuous training readiness across all defence units.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7315017" y="1298448"/>
            <a:ext cx="2072579" cy="4965192"/>
          </a:xfrm>
          <a:prstGeom prst="roundRect">
            <a:avLst>
              <a:gd name="adj" fmla="val 5294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30" name="Oval 17429"/>
          <p:cNvSpPr/>
          <p:nvPr/>
        </p:nvSpPr>
        <p:spPr>
          <a:xfrm>
            <a:off x="8095274" y="1517904"/>
            <a:ext cx="512064" cy="512064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31" name="Picture 17430" descr="Objective Data-Driven Readiness Auditing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3290" y="1645919"/>
            <a:ext cx="256032" cy="256032"/>
          </a:xfrm>
          <a:prstGeom prst="rect">
            <a:avLst/>
          </a:prstGeom>
        </p:spPr>
      </p:pic>
      <p:sp>
        <p:nvSpPr>
          <p:cNvPr id="17432" name="TextBox 17431"/>
          <p:cNvSpPr txBox="1"/>
          <p:nvPr/>
        </p:nvSpPr>
        <p:spPr>
          <a:xfrm>
            <a:off x="7443033" y="2139696"/>
            <a:ext cx="1816547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en-US">
                <a:solidFill>
                  <a:srgbClr val="14345C"/>
                </a:solidFill>
                <a:latin typeface="Calibri"/>
              </a:rPr>
              <a:t>Objective Data-Driven Readiness Auditing</a:t>
            </a:r>
          </a:p>
        </p:txBody>
      </p:sp>
      <p:cxnSp>
        <p:nvCxnSpPr>
          <p:cNvPr id="17433" name="Connector 17432"/>
          <p:cNvCxnSpPr/>
          <p:nvPr/>
        </p:nvCxnSpPr>
        <p:spPr>
          <a:xfrm>
            <a:off x="7589337" y="3054096"/>
            <a:ext cx="1523939" cy="0"/>
          </a:xfrm>
          <a:prstGeom prst="line">
            <a:avLst/>
          </a:prstGeom>
          <a:ln w="12700">
            <a:solidFill>
              <a:srgbClr val="D9E2EE"/>
            </a:solidFill>
          </a:ln>
        </p:spPr>
      </p:cxnSp>
      <p:sp>
        <p:nvSpPr>
          <p:cNvPr id="17434" name="TextBox 17433"/>
          <p:cNvSpPr txBox="1"/>
          <p:nvPr/>
        </p:nvSpPr>
        <p:spPr>
          <a:xfrm>
            <a:off x="7470465" y="3200400"/>
            <a:ext cx="1761683" cy="2862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60" b="0" i="0" lang="en-US">
                <a:solidFill>
                  <a:srgbClr val="1E2638"/>
                </a:solidFill>
                <a:latin typeface="Calibri"/>
              </a:rPr>
              <a:t>Automated After-Action Review (AAR) provides command staff with empirical metrics on unit reaction speed, classification error trends, and engagement judgment over time.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9570476" y="1298448"/>
            <a:ext cx="2072579" cy="4965192"/>
          </a:xfrm>
          <a:prstGeom prst="roundRect">
            <a:avLst>
              <a:gd name="adj" fmla="val 5294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36" name="Oval 17435"/>
          <p:cNvSpPr/>
          <p:nvPr/>
        </p:nvSpPr>
        <p:spPr>
          <a:xfrm>
            <a:off x="10350733" y="1517904"/>
            <a:ext cx="512064" cy="512064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37" name="Picture 17436" descr="Strategic Alignment with Atmanirbhar Bharat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78749" y="1645919"/>
            <a:ext cx="256032" cy="256032"/>
          </a:xfrm>
          <a:prstGeom prst="rect">
            <a:avLst/>
          </a:prstGeom>
        </p:spPr>
      </p:pic>
      <p:sp>
        <p:nvSpPr>
          <p:cNvPr id="17438" name="TextBox 17437"/>
          <p:cNvSpPr txBox="1"/>
          <p:nvPr/>
        </p:nvSpPr>
        <p:spPr>
          <a:xfrm>
            <a:off x="9698492" y="2139696"/>
            <a:ext cx="1816547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lang="en-US">
                <a:solidFill>
                  <a:srgbClr val="14345C"/>
                </a:solidFill>
                <a:latin typeface="Calibri"/>
              </a:rPr>
              <a:t>Strategic Alignment with Atmanirbhar Bharat</a:t>
            </a:r>
          </a:p>
        </p:txBody>
      </p:sp>
      <p:cxnSp>
        <p:nvCxnSpPr>
          <p:cNvPr id="17439" name="Connector 17438"/>
          <p:cNvCxnSpPr/>
          <p:nvPr/>
        </p:nvCxnSpPr>
        <p:spPr>
          <a:xfrm>
            <a:off x="9844796" y="3054096"/>
            <a:ext cx="1523939" cy="0"/>
          </a:xfrm>
          <a:prstGeom prst="line">
            <a:avLst/>
          </a:prstGeom>
          <a:ln w="12700">
            <a:solidFill>
              <a:srgbClr val="D9E2EE"/>
            </a:solidFill>
          </a:ln>
        </p:spPr>
      </p:cxnSp>
      <p:sp>
        <p:nvSpPr>
          <p:cNvPr id="17440" name="TextBox 17439"/>
          <p:cNvSpPr txBox="1"/>
          <p:nvPr/>
        </p:nvSpPr>
        <p:spPr>
          <a:xfrm>
            <a:off x="9725924" y="3200400"/>
            <a:ext cx="1761683" cy="2862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60" b="0" i="0" lang="en-US">
                <a:solidFill>
                  <a:srgbClr val="1E2638"/>
                </a:solidFill>
                <a:latin typeface="Calibri"/>
              </a:rPr>
              <a:t>100% indigenous, sovereign training software designed to fortify India's counter-drone operational doctrine against evolving unmanned aerial threats along borders and vital installations.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5448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300"/>
              <a:t>Phoenix X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2057400" y="91440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lang="en-US">
                <a:solidFill>
                  <a:srgbClr val="566074"/>
                </a:solidFill>
                <a:latin typeface="Calibri"/>
              </a:rPr>
              <a:t>PROJECT PHOENIX-X: AI Drone &amp; Counter-Drone Threat Simulator  |  SIH26247 (MoD / DSSC)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1298448"/>
            <a:ext cx="11094415" cy="4965192"/>
          </a:xfrm>
          <a:prstGeom prst="roundRect">
            <a:avLst>
              <a:gd name="adj" fmla="val 2209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768096" y="1444751"/>
            <a:ext cx="3983126" cy="256032"/>
          </a:xfrm>
          <a:prstGeom prst="roundRect">
            <a:avLst>
              <a:gd name="adj" fmla="val 50000"/>
            </a:avLst>
          </a:prstGeom>
          <a:solidFill>
            <a:srgbClr val="E1EE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768096" y="1444751"/>
            <a:ext cx="3983126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 spc="80">
                <a:solidFill>
                  <a:srgbClr val="0070C0"/>
                </a:solidFill>
                <a:latin typeface="Calibri"/>
              </a:rPr>
              <a:t>VERIFIED PEER-REVIEWED RESEARCH FOUNDATIONS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822959" y="186537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en-US">
                <a:solidFill>
                  <a:srgbClr val="D9700F"/>
                </a:solidFill>
                <a:latin typeface="Consolas"/>
              </a:rPr>
              <a:t>01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463040" y="1828800"/>
            <a:ext cx="3566160" cy="8028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1130" b="1" i="0" lang="en-US">
                <a:solidFill>
                  <a:srgbClr val="14345C"/>
                </a:solidFill>
                <a:latin typeface="Calibri"/>
              </a:rPr>
              <a:t>Radar Drone Detection &amp; Micro-Doppler Signatures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 lang="en-US">
                <a:solidFill>
                  <a:srgbClr val="566074"/>
                </a:solidFill>
                <a:latin typeface="Calibri"/>
              </a:rPr>
              <a:t>J. Drozdowicz et al. — IEEE Radar Conference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5166359" y="1828800"/>
            <a:ext cx="6156655" cy="8028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960" b="0" i="1" lang="en-US">
                <a:solidFill>
                  <a:srgbClr val="566074"/>
                </a:solidFill>
                <a:latin typeface="Calibri"/>
              </a:rPr>
              <a:t>'35 GHz FMCW radar for drone detection and tracking'</a:t>
            </a:r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960" b="0" i="0" lang="en-US">
                <a:solidFill>
                  <a:srgbClr val="1E2638"/>
                </a:solidFill>
                <a:latin typeface="Calibri"/>
              </a:rPr>
              <a:t>Modeling radar cross-section (RCS) fluctuations and range-bearing tracking vectors.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en-US">
                <a:solidFill>
                  <a:srgbClr val="8C97A8"/>
                </a:solidFill>
                <a:latin typeface="Calibri"/>
              </a:rPr>
              <a:t>DOI: 10.1109/RADAR.2016.7485122</a:t>
            </a:r>
          </a:p>
        </p:txBody>
      </p:sp>
      <p:cxnSp>
        <p:nvCxnSpPr>
          <p:cNvPr id="17417" name="Connector 17416"/>
          <p:cNvCxnSpPr/>
          <p:nvPr/>
        </p:nvCxnSpPr>
        <p:spPr>
          <a:xfrm>
            <a:off x="822959" y="2640787"/>
            <a:ext cx="10545776" cy="0"/>
          </a:xfrm>
          <a:prstGeom prst="line">
            <a:avLst/>
          </a:prstGeom>
          <a:ln w="9525">
            <a:solidFill>
              <a:srgbClr val="D9E2EE"/>
            </a:solidFill>
          </a:ln>
        </p:spPr>
      </p:cxnSp>
      <p:sp>
        <p:nvSpPr>
          <p:cNvPr id="17418" name="TextBox 17417"/>
          <p:cNvSpPr txBox="1"/>
          <p:nvPr/>
        </p:nvSpPr>
        <p:spPr>
          <a:xfrm>
            <a:off x="822959" y="2723083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en-US">
                <a:solidFill>
                  <a:srgbClr val="D9700F"/>
                </a:solidFill>
                <a:latin typeface="Consolas"/>
              </a:rPr>
              <a:t>02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1463040" y="2686507"/>
            <a:ext cx="3566160" cy="8028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1130" b="1" i="0" lang="en-US">
                <a:solidFill>
                  <a:srgbClr val="14345C"/>
                </a:solidFill>
                <a:latin typeface="Calibri"/>
              </a:rPr>
              <a:t>Adverse Weather Optical Drone Classification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 lang="en-US">
                <a:solidFill>
                  <a:srgbClr val="566074"/>
                </a:solidFill>
                <a:latin typeface="Calibri"/>
              </a:rPr>
              <a:t>S. S. A. Ghaffar et al. — IEEE Sensors Journal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5166359" y="2686507"/>
            <a:ext cx="6156655" cy="8028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960" b="0" i="1" lang="en-US">
                <a:solidFill>
                  <a:srgbClr val="566074"/>
                </a:solidFill>
                <a:latin typeface="Calibri"/>
              </a:rPr>
              <a:t>'Optical Drone Detection and Classification Under Adverse Weather Conditions'</a:t>
            </a:r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960" b="0" i="0" lang="en-US">
                <a:solidFill>
                  <a:srgbClr val="1E2638"/>
                </a:solidFill>
                <a:latin typeface="Calibri"/>
              </a:rPr>
              <a:t>Grounding synthetic visual degradation, contrast loss, and atmospheric extinction.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en-US">
                <a:solidFill>
                  <a:srgbClr val="8C97A8"/>
                </a:solidFill>
                <a:latin typeface="Calibri"/>
              </a:rPr>
              <a:t>DOI: 10.1109/JSEN.2020.3025211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822959" y="3498494"/>
            <a:ext cx="10545776" cy="0"/>
          </a:xfrm>
          <a:prstGeom prst="line">
            <a:avLst/>
          </a:prstGeom>
          <a:ln w="9525">
            <a:solidFill>
              <a:srgbClr val="D9E2EE"/>
            </a:solidFill>
          </a:ln>
        </p:spPr>
      </p:cxnSp>
      <p:sp>
        <p:nvSpPr>
          <p:cNvPr id="17422" name="TextBox 17421"/>
          <p:cNvSpPr txBox="1"/>
          <p:nvPr/>
        </p:nvSpPr>
        <p:spPr>
          <a:xfrm>
            <a:off x="822959" y="358079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en-US">
                <a:solidFill>
                  <a:srgbClr val="D9700F"/>
                </a:solidFill>
                <a:latin typeface="Consolas"/>
              </a:rPr>
              <a:t>03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1463040" y="3544214"/>
            <a:ext cx="3566160" cy="8028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1130" b="1" i="0" lang="en-US">
                <a:solidFill>
                  <a:srgbClr val="14345C"/>
                </a:solidFill>
                <a:latin typeface="Calibri"/>
              </a:rPr>
              <a:t>Autonomous Swarm Dynamics &amp; Flocking Models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 lang="en-US">
                <a:solidFill>
                  <a:srgbClr val="566074"/>
                </a:solidFill>
                <a:latin typeface="Calibri"/>
              </a:rPr>
              <a:t>C. W. Reynolds — ACM SIGGRAPH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5166359" y="3544214"/>
            <a:ext cx="6156655" cy="8028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960" b="0" i="1" lang="en-US">
                <a:solidFill>
                  <a:srgbClr val="566074"/>
                </a:solidFill>
                <a:latin typeface="Calibri"/>
              </a:rPr>
              <a:t>'Flocks, herds and schools: A distributed behavioral model'</a:t>
            </a:r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960" b="0" i="0" lang="en-US">
                <a:solidFill>
                  <a:srgbClr val="1E2638"/>
                </a:solidFill>
                <a:latin typeface="Calibri"/>
              </a:rPr>
              <a:t>Implementing coordinated multi-agent separation, cohesion, and alignment dynamics for realistic swarm attacks.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en-US">
                <a:solidFill>
                  <a:srgbClr val="8C97A8"/>
                </a:solidFill>
                <a:latin typeface="Calibri"/>
              </a:rPr>
              <a:t>DOI: 10.1145/37402.37406</a:t>
            </a:r>
          </a:p>
        </p:txBody>
      </p:sp>
      <p:cxnSp>
        <p:nvCxnSpPr>
          <p:cNvPr id="17425" name="Connector 17424"/>
          <p:cNvCxnSpPr/>
          <p:nvPr/>
        </p:nvCxnSpPr>
        <p:spPr>
          <a:xfrm>
            <a:off x="822959" y="4356201"/>
            <a:ext cx="10545776" cy="0"/>
          </a:xfrm>
          <a:prstGeom prst="line">
            <a:avLst/>
          </a:prstGeom>
          <a:ln w="9525">
            <a:solidFill>
              <a:srgbClr val="D9E2EE"/>
            </a:solidFill>
          </a:ln>
        </p:spPr>
      </p:cxnSp>
      <p:sp>
        <p:nvSpPr>
          <p:cNvPr id="17426" name="TextBox 17425"/>
          <p:cNvSpPr txBox="1"/>
          <p:nvPr/>
        </p:nvSpPr>
        <p:spPr>
          <a:xfrm>
            <a:off x="822959" y="4438497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en-US">
                <a:solidFill>
                  <a:srgbClr val="D9700F"/>
                </a:solidFill>
                <a:latin typeface="Consolas"/>
              </a:rPr>
              <a:t>04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1463040" y="4401921"/>
            <a:ext cx="3566160" cy="8028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1130" b="1" i="0" lang="en-US">
                <a:solidFill>
                  <a:srgbClr val="14345C"/>
                </a:solidFill>
                <a:latin typeface="Calibri"/>
              </a:rPr>
              <a:t>Multi-Sensor Fusion in Counter-UAS Systems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 lang="en-US">
                <a:solidFill>
                  <a:srgbClr val="566074"/>
                </a:solidFill>
                <a:latin typeface="Calibri"/>
              </a:rPr>
              <a:t>M. Ezuma et al. — IEEE Aerospace and Electronic Systems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5166359" y="4401921"/>
            <a:ext cx="6156655" cy="8028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960" b="0" i="1" lang="en-US">
                <a:solidFill>
                  <a:srgbClr val="566074"/>
                </a:solidFill>
                <a:latin typeface="Calibri"/>
              </a:rPr>
              <a:t>'Micro-UAV Detection and Classification Using Machine Learning Techniques'</a:t>
            </a:r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960" b="0" i="0" lang="en-US">
                <a:solidFill>
                  <a:srgbClr val="1E2638"/>
                </a:solidFill>
                <a:latin typeface="Calibri"/>
              </a:rPr>
              <a:t>Structuring multi-channel radar, EO, and RF track association.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en-US">
                <a:solidFill>
                  <a:srgbClr val="8C97A8"/>
                </a:solidFill>
                <a:latin typeface="Calibri"/>
              </a:rPr>
              <a:t>DOI: 10.1109/MAES.2019.2955959</a:t>
            </a:r>
          </a:p>
        </p:txBody>
      </p:sp>
      <p:cxnSp>
        <p:nvCxnSpPr>
          <p:cNvPr id="17429" name="Connector 17428"/>
          <p:cNvCxnSpPr/>
          <p:nvPr/>
        </p:nvCxnSpPr>
        <p:spPr>
          <a:xfrm>
            <a:off x="822959" y="5213908"/>
            <a:ext cx="10545776" cy="0"/>
          </a:xfrm>
          <a:prstGeom prst="line">
            <a:avLst/>
          </a:prstGeom>
          <a:ln w="9525">
            <a:solidFill>
              <a:srgbClr val="D9E2EE"/>
            </a:solidFill>
          </a:ln>
        </p:spPr>
      </p:cxnSp>
      <p:sp>
        <p:nvSpPr>
          <p:cNvPr id="17430" name="TextBox 17429"/>
          <p:cNvSpPr txBox="1"/>
          <p:nvPr/>
        </p:nvSpPr>
        <p:spPr>
          <a:xfrm>
            <a:off x="822959" y="529620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en-US">
                <a:solidFill>
                  <a:srgbClr val="D9700F"/>
                </a:solidFill>
                <a:latin typeface="Consolas"/>
              </a:rPr>
              <a:t>05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1463040" y="5259628"/>
            <a:ext cx="3566160" cy="8028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1130" b="1" i="0" lang="en-US">
                <a:solidFill>
                  <a:srgbClr val="14345C"/>
                </a:solidFill>
                <a:latin typeface="Calibri"/>
              </a:rPr>
              <a:t>Intelligent Tutoring Systems &amp; Simulation AAR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 lang="en-US">
                <a:solidFill>
                  <a:srgbClr val="566074"/>
                </a:solidFill>
                <a:latin typeface="Calibri"/>
              </a:rPr>
              <a:t>R. S. Sottilare et al. — Springer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5166359" y="5259628"/>
            <a:ext cx="6156655" cy="8028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960" b="0" i="1" lang="en-US">
                <a:solidFill>
                  <a:srgbClr val="566074"/>
                </a:solidFill>
                <a:latin typeface="Calibri"/>
              </a:rPr>
              <a:t>'Design Recommendations for Adaptive Intelligent Tutoring Systems'</a:t>
            </a:r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960" b="0" i="0" lang="en-US">
                <a:solidFill>
                  <a:srgbClr val="1E2638"/>
                </a:solidFill>
                <a:latin typeface="Calibri"/>
              </a:rPr>
              <a:t>Formulating deterministic decision-tree scoring, confidence calibration, and after-action review feedback loops.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30" b="0" i="0" lang="en-US">
                <a:solidFill>
                  <a:srgbClr val="8C97A8"/>
                </a:solidFill>
                <a:latin typeface="Calibri"/>
              </a:rPr>
              <a:t>DOI: 10.1007/978-3-319-07227-2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7524</TotalTime>
  <Words>346</Words>
  <Application>Microsoft Macintosh PowerPoint</Application>
  <PresentationFormat>Widescreen</PresentationFormat>
  <Paragraphs>60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Justin </cp:lastModifiedBy>
  <cp:revision>149</cp:revision>
  <dcterms:created xsi:type="dcterms:W3CDTF">2013-12-12T18:46:50Z</dcterms:created>
  <dcterms:modified xsi:type="dcterms:W3CDTF">2026-09-18T06:04:45Z</dcterms:modified>
  <cp:category/>
</cp:coreProperties>
</file>