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352" y="19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9/18/26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9/18/26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9/18/26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347001"/>
            <a:ext cx="6005719" cy="616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sz="2400" b="1">
                <a:latin typeface="Arial"/>
              </a:rPr>
              <a:t>26247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sz="1300">
                <a:latin typeface="Arial"/>
              </a:rPr>
              <a:t>AI-Enabled Drone &amp; Counter-Drone Threat Simulation Trainer (Ministry of Defence / Defence Services Staff College)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sz="1300">
                <a:latin typeface="Arial"/>
              </a:rPr>
              <a:t>Robotics and Drones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sz="2400" b="1">
                <a:latin typeface="Arial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sz="2400" b="1">
                <a:latin typeface="Arial"/>
              </a:rPr>
              <a:t>141943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sz="2400" b="1">
                <a:latin typeface="Arial"/>
              </a:rPr>
              <a:t>Phoenix X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rPr sz="2400" b="1">
                <a:solidFill>
                  <a:srgbClr val="FFFFFF"/>
                </a:solidFill>
                <a:latin typeface="Times New Roman"/>
              </a:rPr>
              <a:t>PHOENIX-X: AI-ENABLED DRONE &amp; C-UAS THREAT SIMULATOR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64C8FF"/>
                </a:solidFill>
                <a:latin typeface="Calibri"/>
              </a:rPr>
              <a:t>• Core Concept: </a:t>
            </a:r>
            <a:r>
              <a:rPr sz="1200" b="0">
                <a:solidFill>
                  <a:srgbClr val="EBEEF5"/>
                </a:solidFill>
                <a:latin typeface="Calibri"/>
              </a:rPr>
              <a:t>A lightweight, software-based simulation platform engineered for unit-level deployment to train defence personnel in detecting, classifying, and responding to drone and swarm threats across varied environments.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64C8FF"/>
                </a:solidFill>
                <a:latin typeface="Calibri"/>
              </a:rPr>
              <a:t>• How It Solves the Problem: </a:t>
            </a:r>
            <a:r>
              <a:rPr sz="1200" b="0">
                <a:solidFill>
                  <a:srgbClr val="EBEEF5"/>
                </a:solidFill>
                <a:latin typeface="Calibri"/>
              </a:rPr>
              <a:t>Replaces expensive, weather-dependent, and infrequent live-fire drills with high-repetition synthetic practice running on standard military-issue laptops without requiring specialized hardware or cloud dependencies.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64C8FF"/>
                </a:solidFill>
                <a:latin typeface="Calibri"/>
              </a:rPr>
              <a:t>• Procedural Scenario DNA: </a:t>
            </a:r>
            <a:r>
              <a:rPr sz="1200" b="0">
                <a:solidFill>
                  <a:srgbClr val="EBEEF5"/>
                </a:solidFill>
                <a:latin typeface="Calibri"/>
              </a:rPr>
              <a:t>Seed-reproducible generation of tactical environments across Day/Night, Urban/Rural/Open terrains, degraded sensor conditions (atmospheric noise, low visibility, sensor health degradation), and diverse threat profiles.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64C8FF"/>
                </a:solidFill>
                <a:latin typeface="Calibri"/>
              </a:rPr>
              <a:t>• Decision-Tree Cognitive Evaluation: </a:t>
            </a:r>
            <a:r>
              <a:rPr sz="1200" b="0">
                <a:solidFill>
                  <a:srgbClr val="EBEEF5"/>
                </a:solidFill>
                <a:latin typeface="Calibri"/>
              </a:rPr>
              <a:t>Scores operators deterministically on detection reaction latency, multi-class classification accuracy (Benign / Unknown / Unusual), confidence calibration, and abstract engagement decisions (Monitor / Escalate / Resolve).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64C8FF"/>
                </a:solidFill>
                <a:latin typeface="Calibri"/>
              </a:rPr>
              <a:t>• After-Action Review (AAR) &amp; Analytics: </a:t>
            </a:r>
            <a:r>
              <a:rPr sz="1200" b="0">
                <a:solidFill>
                  <a:srgbClr val="EBEEF5"/>
                </a:solidFill>
                <a:latin typeface="Calibri"/>
              </a:rPr>
              <a:t>Delivers millisecond-accurate timeline event replays, automated strengths/mistakes coaching diagnostics, and longitudinal unit-level skill retention tracking across repeated sessions to eliminate rote learning.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3523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Phoenix X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64C8FF"/>
                </a:solidFill>
                <a:latin typeface="Calibri"/>
              </a:rPr>
              <a:t>• System Architecture &amp; Stack: </a:t>
            </a:r>
            <a:r>
              <a:rPr sz="1200" b="0">
                <a:solidFill>
                  <a:srgbClr val="EBEEF5"/>
                </a:solidFill>
                <a:latin typeface="Calibri"/>
              </a:rPr>
              <a:t>Local-first modular architecture combining a deterministic fixed-step simulation engine, client-side React 19/TypeScript cockpit, Babylon.js 3D/2D tactical viewport, and optional Python 1-click launcher.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64C8FF"/>
                </a:solidFill>
                <a:latin typeface="Calibri"/>
              </a:rPr>
              <a:t>• Multi-Sensor Threat Perception Suite: </a:t>
            </a:r>
            <a:r>
              <a:rPr sz="1200" b="0">
                <a:solidFill>
                  <a:srgbClr val="EBEEF5"/>
                </a:solidFill>
                <a:latin typeface="Calibri"/>
              </a:rPr>
              <a:t>Simulates simultaneous feeds including 3D Radar PPI Scope (range, bearing, velocity vectors), Electro-Optical (EO) daylight/night surveillance, and Thermal-like LWIR contrast feeds with synthetic noise degradation.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64C8FF"/>
                </a:solidFill>
                <a:latin typeface="Calibri"/>
              </a:rPr>
              <a:t>• Kinematic Modeling &amp; Swarm Trajectories: </a:t>
            </a:r>
            <a:r>
              <a:rPr sz="1200" b="0">
                <a:solidFill>
                  <a:srgbClr val="EBEEF5"/>
                </a:solidFill>
                <a:latin typeface="Calibri"/>
              </a:rPr>
              <a:t>Physics-grounded 3D path generation modeling individual Micro/Mini drones, fast loitering targets, and multi-agent swarm formations with dynamic speed, altitude, and bearing variations.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64C8FF"/>
                </a:solidFill>
                <a:latin typeface="Calibri"/>
              </a:rPr>
              <a:t>• Anti-Cheat Ground-Truth Hard Boundary: </a:t>
            </a:r>
            <a:r>
              <a:rPr sz="1200" b="0">
                <a:solidFill>
                  <a:srgbClr val="EBEEF5"/>
                </a:solidFill>
                <a:latin typeface="Calibri"/>
              </a:rPr>
              <a:t>Simulation ground truth is strictly sealed in the engine; trainee classifications and confidence inputs can never overwrite actual entity states, guaranteeing 100% auditable scoring integrity.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64C8FF"/>
                </a:solidFill>
                <a:latin typeface="Calibri"/>
              </a:rPr>
              <a:t>• Offline Persistence &amp; Zero-Dependency Execution: </a:t>
            </a:r>
            <a:r>
              <a:rPr sz="1200" b="0">
                <a:solidFill>
                  <a:srgbClr val="EBEEF5"/>
                </a:solidFill>
                <a:latin typeface="Calibri"/>
              </a:rPr>
              <a:t>Local IndexedDB / Dexie client-side persistence and single-file canvas companion enabling instant zero-install execution on forward-deployed hardware without internet connectivity.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Phoenix X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64C8FF"/>
                </a:solidFill>
                <a:latin typeface="Calibri"/>
              </a:rPr>
              <a:t>• Feasibility Analysis (Unit-Level Usability): </a:t>
            </a:r>
            <a:r>
              <a:rPr sz="1200" b="0">
                <a:solidFill>
                  <a:srgbClr val="EBEEF5"/>
                </a:solidFill>
                <a:latin typeface="Calibri"/>
              </a:rPr>
              <a:t>Engineered specifically for low-overhead execution. Runs smoothly on standard COTS laptops (integrated graphics, 4GB RAM) with zero dependency on expensive external GPU rigs, physical radar hardware, or VR headsets.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64C8FF"/>
                </a:solidFill>
                <a:latin typeface="Calibri"/>
              </a:rPr>
              <a:t>• Risk: Rote Learning &amp; Predictability: </a:t>
            </a:r>
            <a:r>
              <a:rPr sz="1200" b="0">
                <a:solidFill>
                  <a:srgbClr val="EBEEF5"/>
                </a:solidFill>
                <a:latin typeface="Calibri"/>
              </a:rPr>
              <a:t>Risk: Trainees memorize fixed drone paths. Mitigation: Pseudorandom Seeded Scenario DNA alters approach vectors, spawn times, environmental visibility, and noise in every run while remaining fully reproducible for instructor evaluation.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64C8FF"/>
                </a:solidFill>
                <a:latin typeface="Calibri"/>
              </a:rPr>
              <a:t>• Risk: Connectivity &amp; Field Environment Outages: </a:t>
            </a:r>
            <a:r>
              <a:rPr sz="1200" b="0">
                <a:solidFill>
                  <a:srgbClr val="EBEEF5"/>
                </a:solidFill>
                <a:latin typeface="Calibri"/>
              </a:rPr>
              <a:t>Risk: Forward bases have zero internet access. Mitigation: Fully local-first Progressive Web App (PWA) with self-contained assets and bundled evidence clips ensuring 100% offline mission readiness.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64C8FF"/>
                </a:solidFill>
                <a:latin typeface="Calibri"/>
              </a:rPr>
              <a:t>• Risk: Complex Deployment Overhead: </a:t>
            </a:r>
            <a:r>
              <a:rPr sz="1200" b="0">
                <a:solidFill>
                  <a:srgbClr val="EBEEF5"/>
                </a:solidFill>
                <a:latin typeface="Calibri"/>
              </a:rPr>
              <a:t>Risk: Defence units cannot troubleshoot complex installation scripts. Mitigation: Provided with a 1-click Python launcher (`python3 launch_demo.py`) and standalone zero-dependency mobile/desktop preview.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64C8FF"/>
                </a:solidFill>
                <a:latin typeface="Calibri"/>
              </a:rPr>
              <a:t>• Operational Viability: </a:t>
            </a:r>
            <a:r>
              <a:rPr sz="1200" b="0">
                <a:solidFill>
                  <a:srgbClr val="EBEEF5"/>
                </a:solidFill>
                <a:latin typeface="Calibri"/>
              </a:rPr>
              <a:t>Immediately adoptable by training establishments (such as Defence Services Staff College) for tactical officer decision-making drills before conducting costly live-fire range exercises.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Phoenix X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64C8FF"/>
                </a:solidFill>
                <a:latin typeface="Calibri"/>
              </a:rPr>
              <a:t>• Dramatic Cost Reduction &amp; Resource Optimization: </a:t>
            </a:r>
            <a:r>
              <a:rPr sz="1200" b="0">
                <a:solidFill>
                  <a:srgbClr val="EBEEF5"/>
                </a:solidFill>
                <a:latin typeface="Calibri"/>
              </a:rPr>
              <a:t>Eliminates the immense recurring expense of expending target drones, fuel, and specialized range safety infrastructure. Delivers unlimited virtual training repetitions at zero per-drill consumable cost.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64C8FF"/>
                </a:solidFill>
                <a:latin typeface="Calibri"/>
              </a:rPr>
              <a:t>• High-Repetition Cognitive Muscle Memory: </a:t>
            </a:r>
            <a:r>
              <a:rPr sz="1200" b="0">
                <a:solidFill>
                  <a:srgbClr val="EBEEF5"/>
                </a:solidFill>
                <a:latin typeface="Calibri"/>
              </a:rPr>
              <a:t>Enables soldiers and officers to experience 50+ diverse swarm and single-drone threat scenarios per week, building rapid decision reflexes under time pressure and degraded visibility.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64C8FF"/>
                </a:solidFill>
                <a:latin typeface="Calibri"/>
              </a:rPr>
              <a:t>• All-Weather &amp; 24/7 Training Availability: </a:t>
            </a:r>
            <a:r>
              <a:rPr sz="1200" b="0">
                <a:solidFill>
                  <a:srgbClr val="EBEEF5"/>
                </a:solidFill>
                <a:latin typeface="Calibri"/>
              </a:rPr>
              <a:t>Training schedules are no longer canceled due to adverse weather, airspace restrictions, or range scheduling conflicts, ensuring continuous training readiness across all defence units.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64C8FF"/>
                </a:solidFill>
                <a:latin typeface="Calibri"/>
              </a:rPr>
              <a:t>• Objective Data-Driven Readiness Auditing: </a:t>
            </a:r>
            <a:r>
              <a:rPr sz="1200" b="0">
                <a:solidFill>
                  <a:srgbClr val="EBEEF5"/>
                </a:solidFill>
                <a:latin typeface="Calibri"/>
              </a:rPr>
              <a:t>Automated After-Action Review (AAR) provides command staff with empirical metrics on unit reaction speed, classification error trends, and engagement judgment over time.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64C8FF"/>
                </a:solidFill>
                <a:latin typeface="Calibri"/>
              </a:rPr>
              <a:t>• Strategic Alignment with Atmanirbhar Bharat: </a:t>
            </a:r>
            <a:r>
              <a:rPr sz="1200" b="0">
                <a:solidFill>
                  <a:srgbClr val="EBEEF5"/>
                </a:solidFill>
                <a:latin typeface="Calibri"/>
              </a:rPr>
              <a:t>100% indigenous, sovereign training software designed to fortify India's counter-drone operational doctrine against evolving unmanned aerial threats along borders and vital installations.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Phoenix X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64C8FF"/>
                </a:solidFill>
                <a:latin typeface="Calibri"/>
              </a:rPr>
              <a:t>• Radar Drone Detection &amp; Micro-Doppler Signatures: </a:t>
            </a:r>
            <a:r>
              <a:rPr sz="1200" b="0">
                <a:solidFill>
                  <a:srgbClr val="EBEEF5"/>
                </a:solidFill>
                <a:latin typeface="Calibri"/>
              </a:rPr>
              <a:t>J. Drozdowicz et al., '35 GHz FMCW radar for drone detection and tracking,' IEEE Radar Conference. Modeling radar cross-section (RCS) fluctuations and range-bearing tracking vectors. [DOI: 10.1109/RADAR.2016.7485122]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64C8FF"/>
                </a:solidFill>
                <a:latin typeface="Calibri"/>
              </a:rPr>
              <a:t>• Adverse Weather Optical Drone Classification: </a:t>
            </a:r>
            <a:r>
              <a:rPr sz="1200" b="0">
                <a:solidFill>
                  <a:srgbClr val="EBEEF5"/>
                </a:solidFill>
                <a:latin typeface="Calibri"/>
              </a:rPr>
              <a:t>S. S. A. Ghaffar et al., 'Optical Drone Detection and Classification Under Adverse Weather Conditions,' IEEE Sensors Journal. Grounding synthetic visual degradation, contrast loss, and atmospheric extinction. [DOI: 10.1109/JSEN.2020.3025211]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64C8FF"/>
                </a:solidFill>
                <a:latin typeface="Calibri"/>
              </a:rPr>
              <a:t>• Autonomous Swarm Dynamics &amp; Flocking Models: </a:t>
            </a:r>
            <a:r>
              <a:rPr sz="1200" b="0">
                <a:solidFill>
                  <a:srgbClr val="EBEEF5"/>
                </a:solidFill>
                <a:latin typeface="Calibri"/>
              </a:rPr>
              <a:t>C. W. Reynolds, 'Flocks, herds and schools: A distributed behavioral model,' ACM SIGGRAPH. Implementing coordinated multi-agent separation, cohesion, and alignment dynamics for realistic swarm attacks. [DOI: 10.1145/37402.37406]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64C8FF"/>
                </a:solidFill>
                <a:latin typeface="Calibri"/>
              </a:rPr>
              <a:t>• Multi-Sensor Fusion in Counter-UAS Systems: </a:t>
            </a:r>
            <a:r>
              <a:rPr sz="1200" b="0">
                <a:solidFill>
                  <a:srgbClr val="EBEEF5"/>
                </a:solidFill>
                <a:latin typeface="Calibri"/>
              </a:rPr>
              <a:t>M. Ezuma et al., 'Micro-UAV Detection and Classification Using Machine Learning Techniques,' IEEE Aerospace and Electronic Systems. Structuring multi-channel radar, EO, and RF track association. [DOI: 10.1109/MAES.2019.2955959]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64C8FF"/>
                </a:solidFill>
                <a:latin typeface="Calibri"/>
              </a:rPr>
              <a:t>• Intelligent Tutoring Systems &amp; Simulation AAR: </a:t>
            </a:r>
            <a:r>
              <a:rPr sz="1200" b="0">
                <a:solidFill>
                  <a:srgbClr val="EBEEF5"/>
                </a:solidFill>
                <a:latin typeface="Calibri"/>
              </a:rPr>
              <a:t>R. S. Sottilare et al., 'Design Recommendations for Adaptive Intelligent Tutoring Systems,' Springer. Formulating deterministic decision-tree scoring, confidence calibration, and after-action review feedback loops. [DOI: 10.1007/978-3-319-07227-2]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Phoenix X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7524</TotalTime>
  <Words>346</Words>
  <Application>Microsoft Macintosh PowerPoint</Application>
  <PresentationFormat>Widescreen</PresentationFormat>
  <Paragraphs>60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Justin </cp:lastModifiedBy>
  <cp:revision>149</cp:revision>
  <dcterms:created xsi:type="dcterms:W3CDTF">2013-12-12T18:46:50Z</dcterms:created>
  <dcterms:modified xsi:type="dcterms:W3CDTF">2026-09-18T06:04:45Z</dcterms:modified>
  <cp:category/>
</cp:coreProperties>
</file>