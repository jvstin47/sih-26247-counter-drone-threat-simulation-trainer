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520" y="960120"/>
            <a:ext cx="2319302" cy="2577483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Smart India Hackathon 2026 light-bulb logo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331575" y="1392300"/>
            <a:ext cx="1601754" cy="171311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 spc="100">
                <a:solidFill>
                  <a:srgbClr val="B35A00"/>
                </a:solidFill>
                <a:latin typeface="Calibri"/>
              </a:rPr>
              <a:t>ROBOTICS AND DRONES  |  MINISTRY OF DEFENCE / DEFENCE SERVICES STAFF COLLEGE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161288"/>
            <a:ext cx="7680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1F497D"/>
                </a:solidFill>
                <a:latin typeface="Calibri"/>
              </a:rPr>
              <a:t>PROJECT PHOENIX-X</a:t>
            </a: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D9700F"/>
                </a:solidFill>
                <a:latin typeface="Calibri"/>
              </a:rPr>
              <a:t>C-UAS TRAINER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3113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en-US">
                <a:solidFill>
                  <a:srgbClr val="566074"/>
                </a:solidFill>
                <a:latin typeface="Calibri"/>
              </a:rPr>
              <a:t>AI-enabled drone &amp; counter-drone threat simulation trainer for unit-level defence force readiness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889504"/>
            <a:ext cx="7360920" cy="3200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540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en-US">
                <a:solidFill>
                  <a:srgbClr val="D9700F"/>
                </a:solidFill>
                <a:latin typeface="Calibri"/>
              </a:rPr>
              <a:t>SIH26247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0540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236976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Robotics and Drones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371246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5800" y="3803904"/>
            <a:ext cx="68122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995928"/>
            <a:ext cx="6812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A10000"/>
                </a:solidFill>
                <a:latin typeface="Calibri"/>
              </a:rPr>
              <a:t>AI-Enabled Drone &amp; Counter-Drone Threat Simulation Trainer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352544"/>
            <a:ext cx="6812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 lang="en-US">
                <a:solidFill>
                  <a:srgbClr val="566074"/>
                </a:solidFill>
                <a:latin typeface="Calibri"/>
              </a:rPr>
              <a:t>(Ministry of Defence / Defence Services Staff College)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4663440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85800" y="475488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SPONSORING ORGANIZATION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475488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937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Ministry of Defence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4937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Software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535838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85800" y="5449824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544982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6327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Phoenix 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6327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141943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288950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120">
                <a:solidFill>
                  <a:srgbClr val="0070C0"/>
                </a:solidFill>
                <a:latin typeface="Calibri"/>
              </a:rPr>
              <a:t>HEADLINE CAPABILITIES</a:t>
            </a:r>
          </a:p>
        </p:txBody>
      </p:sp>
      <p:sp>
        <p:nvSpPr>
          <p:cNvPr id="61" name="Oval 60"/>
          <p:cNvSpPr/>
          <p:nvPr/>
        </p:nvSpPr>
        <p:spPr>
          <a:xfrm>
            <a:off x="8092440" y="32735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3335274"/>
            <a:ext cx="150876" cy="1508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485632" y="32552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Procedural, Seed-Reproducible Scenarios</a:t>
            </a:r>
          </a:p>
        </p:txBody>
      </p:sp>
      <p:sp>
        <p:nvSpPr>
          <p:cNvPr id="64" name="Oval 63"/>
          <p:cNvSpPr/>
          <p:nvPr/>
        </p:nvSpPr>
        <p:spPr>
          <a:xfrm>
            <a:off x="8092440" y="37307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3792474"/>
            <a:ext cx="150876" cy="1508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85632" y="37124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Zero-Install, Fully Offline PWA</a:t>
            </a:r>
          </a:p>
        </p:txBody>
      </p:sp>
      <p:sp>
        <p:nvSpPr>
          <p:cNvPr id="67" name="Oval 66"/>
          <p:cNvSpPr/>
          <p:nvPr/>
        </p:nvSpPr>
        <p:spPr>
          <a:xfrm>
            <a:off x="8092440" y="41879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249674"/>
            <a:ext cx="150876" cy="15087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485632" y="4169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Multi-Sensor Radar / EO / Thermal Feeds</a:t>
            </a:r>
          </a:p>
        </p:txBody>
      </p:sp>
      <p:sp>
        <p:nvSpPr>
          <p:cNvPr id="70" name="Oval 69"/>
          <p:cNvSpPr/>
          <p:nvPr/>
        </p:nvSpPr>
        <p:spPr>
          <a:xfrm>
            <a:off x="8092440" y="46451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706874"/>
            <a:ext cx="150876" cy="1508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85632" y="46268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Deterministic AAR &amp; Skill Analytics</a:t>
            </a:r>
          </a:p>
        </p:txBody>
      </p:sp>
      <p:sp>
        <p:nvSpPr>
          <p:cNvPr id="73" name="Oval 72"/>
          <p:cNvSpPr/>
          <p:nvPr/>
        </p:nvSpPr>
        <p:spPr>
          <a:xfrm>
            <a:off x="8092440" y="51023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164074"/>
            <a:ext cx="150876" cy="15087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85632" y="50840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Runs on Standard COTS Laptops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200" b="1">
                <a:solidFill>
                  <a:srgbClr val="14345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4" name="Oval 15363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65" name="Picture 15364" descr="Core Concep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595628"/>
            <a:ext cx="228600" cy="228600"/>
          </a:xfrm>
          <a:prstGeom prst="rect">
            <a:avLst/>
          </a:prstGeom>
        </p:spPr>
      </p:pic>
      <p:sp>
        <p:nvSpPr>
          <p:cNvPr id="15366" name="TextBox 15365"/>
          <p:cNvSpPr txBox="1"/>
          <p:nvPr/>
        </p:nvSpPr>
        <p:spPr>
          <a:xfrm>
            <a:off x="731520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Core Concept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31520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A lightweight, software-based simulation platform engineered for unit-level deployment to train defence personnel in detecting, classifying, and responding to drone and swarm threats across varied environments.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313834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4496714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70" name="Picture 15369" descr="How It Solves the Proble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014" y="1595628"/>
            <a:ext cx="228600" cy="22860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4496714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96714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Replaces expensive, weather-dependent, and infrequent live-fire drills with high-repetition synthetic practice running on standard military-issue laptops without requiring specialized hardware or cloud dependencies.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8079028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4" name="Oval 15373"/>
          <p:cNvSpPr/>
          <p:nvPr/>
        </p:nvSpPr>
        <p:spPr>
          <a:xfrm>
            <a:off x="8261908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75" name="Picture 15374" descr="Procedural Scenario DNA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208" y="1595628"/>
            <a:ext cx="228600" cy="228600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8261908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Procedural Scenario DNA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261908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Seed-reproducible generation of tactical environments across Day/Night, Urban/Rural/Open terrains, degraded sensor conditions (atmospheric noise, low visibility, sensor health degradation), and diverse threat profiles.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548640" y="3712463"/>
            <a:ext cx="5446623" cy="2551176"/>
          </a:xfrm>
          <a:prstGeom prst="roundRect">
            <a:avLst>
              <a:gd name="adj" fmla="val 4301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9" name="Oval 15378"/>
          <p:cNvSpPr/>
          <p:nvPr/>
        </p:nvSpPr>
        <p:spPr>
          <a:xfrm>
            <a:off x="768096" y="3913631"/>
            <a:ext cx="457200" cy="457200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0" name="Picture 15379" descr="Decision-Tree Cognitive Evalua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" y="4027931"/>
            <a:ext cx="228600" cy="228600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1371600" y="3913631"/>
            <a:ext cx="4440783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Decision-Tree Cognitive Evaluation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68096" y="4553712"/>
            <a:ext cx="5007711" cy="1545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en-US">
                <a:solidFill>
                  <a:srgbClr val="E4ECF7"/>
                </a:solidFill>
                <a:latin typeface="Calibri"/>
              </a:rPr>
              <a:t>Scores operators deterministically on detection reaction latency, multi-class classification accuracy (Benign / Unknown / Unusual), confidence calibration, and abstract engagement decisions (Monitor / Escalate / Resolve).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196431" y="3712463"/>
            <a:ext cx="5446623" cy="2551176"/>
          </a:xfrm>
          <a:prstGeom prst="roundRect">
            <a:avLst>
              <a:gd name="adj" fmla="val 4301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6415887" y="3913631"/>
            <a:ext cx="457200" cy="457200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After-Action Review (AAR) &amp; Analytic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187" y="4027931"/>
            <a:ext cx="228600" cy="228600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7019391" y="3913631"/>
            <a:ext cx="4440783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After-Action Review (AAR) &amp; Analytics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6415887" y="4553712"/>
            <a:ext cx="5007711" cy="1545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en-US">
                <a:solidFill>
                  <a:srgbClr val="E4ECF7"/>
                </a:solidFill>
                <a:latin typeface="Calibri"/>
              </a:rPr>
              <a:t>Delivers millisecond-accurate timeline event replays, automated strengths/mistakes coaching diagnostics, and longitudinal unit-level skill retention tracking across repeated sessions to eliminate rote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11094415" cy="4965192"/>
          </a:xfrm>
          <a:prstGeom prst="roundRect">
            <a:avLst>
              <a:gd name="adj" fmla="val 2209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768096" y="1463039"/>
            <a:ext cx="3394252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68096" y="1463039"/>
            <a:ext cx="33942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0070C0"/>
                </a:solidFill>
                <a:latin typeface="Calibri"/>
              </a:rPr>
              <a:t>SYSTEM ARCHITECTURE &amp; IMPLEMENTATION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822959" y="2060143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System Architecture &amp; Sta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09" y="2161092"/>
            <a:ext cx="218724" cy="21872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463040" y="1892807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System Architecture &amp; Stack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80559" y="1865376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Local-first modular architecture combining a deterministic fixed-step simulation engine, client-side React 19/TypeScript cockpit, Babylon.js 3D/2D tactical viewport, and optional Python 1-click launcher.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822959" y="2675534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19" name="Oval 17418"/>
          <p:cNvSpPr/>
          <p:nvPr/>
        </p:nvSpPr>
        <p:spPr>
          <a:xfrm>
            <a:off x="822959" y="2906877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Multi-Sensor Threat Perception Sui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9" y="3007827"/>
            <a:ext cx="218724" cy="21872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463040" y="2739542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Multi-Sensor Threat Perception Suite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80559" y="2712110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Simulates simultaneous feeds including 3D Radar PPI Scope (range, bearing, velocity vectors), Electro-Optical (EO) daylight/night surveillance, and Thermal-like LWIR contrast feeds with synthetic noise degradation.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822959" y="3522268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4" name="Oval 17423"/>
          <p:cNvSpPr/>
          <p:nvPr/>
        </p:nvSpPr>
        <p:spPr>
          <a:xfrm>
            <a:off x="822959" y="375361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Kinematic Modeling &amp; Swarm Trajectorie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09" y="3854561"/>
            <a:ext cx="218724" cy="21872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463040" y="3586276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Kinematic Modeling &amp; Swarm Trajectories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480559" y="3558844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Physics-grounded 3D path generation modeling individual Micro/Mini drones, fast loitering targets, and multi-agent swarm formations with dynamic speed, altitude, and bearing variations.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822959" y="4369003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9" name="Oval 17428"/>
          <p:cNvSpPr/>
          <p:nvPr/>
        </p:nvSpPr>
        <p:spPr>
          <a:xfrm>
            <a:off x="822959" y="4600346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Anti-Cheat Ground-Truth Hard Boundar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09" y="4701296"/>
            <a:ext cx="218724" cy="21872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1463040" y="4433011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Anti-Cheat Ground-Truth Hard Boundary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480559" y="4405579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Simulation ground truth is strictly sealed in the engine; trainee classifications and confidence inputs can never overwrite actual entity states, guaranteeing 100% auditable scoring integrity.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822959" y="5215737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34" name="Oval 17433"/>
          <p:cNvSpPr/>
          <p:nvPr/>
        </p:nvSpPr>
        <p:spPr>
          <a:xfrm>
            <a:off x="822959" y="5447080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Offline Persistence &amp; Zero-Dependency Executio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09" y="5548030"/>
            <a:ext cx="218724" cy="21872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463040" y="5279745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Offline Persistence &amp; Zero-Dependency Execution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480559" y="5252313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Local IndexedDB / Dexie client-side persistence and single-file canvas companion enabling instant zero-install execution on forward-deployed hardware without internet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5446623" cy="13716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749808" y="1481328"/>
            <a:ext cx="384048" cy="384048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Feasi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19" y="1577339"/>
            <a:ext cx="192024" cy="1920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261872" y="1481328"/>
            <a:ext cx="45322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Feasibility Analysis (Unit-Level Usability)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49808" y="1956815"/>
            <a:ext cx="5044287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Engineered specifically for low-overhead execution. Runs smoothly on standard COTS laptops (integrated graphics, 4GB RAM) with zero dependency on expensive external GPU rigs, physical radar hardware, or VR headsets.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6431" y="1298448"/>
            <a:ext cx="5446623" cy="1371600"/>
          </a:xfrm>
          <a:prstGeom prst="roundRect">
            <a:avLst>
              <a:gd name="adj" fmla="val 8000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6397599" y="1481328"/>
            <a:ext cx="384048" cy="384048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Operational via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11" y="1577339"/>
            <a:ext cx="192024" cy="19202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09663" y="1481328"/>
            <a:ext cx="45322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Operational Viability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97599" y="1956815"/>
            <a:ext cx="5044287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E4ECF7"/>
                </a:solidFill>
                <a:latin typeface="Calibri"/>
              </a:rPr>
              <a:t>Immediately adoptable by training establishments (such as the Defence Services Staff College) for tactical officer decision-making drills before conducting costly live-fire range exercises.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48640" y="2852928"/>
            <a:ext cx="11094415" cy="3410711"/>
          </a:xfrm>
          <a:prstGeom prst="roundRect">
            <a:avLst>
              <a:gd name="adj" fmla="val 3217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68096" y="2999232"/>
            <a:ext cx="3226003" cy="256032"/>
          </a:xfrm>
          <a:prstGeom prst="roundRect">
            <a:avLst>
              <a:gd name="adj" fmla="val 50000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68096" y="2999232"/>
            <a:ext cx="3226003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A10000"/>
                </a:solidFill>
                <a:latin typeface="Calibri"/>
              </a:rPr>
              <a:t>TOP RISKS → ENGINEERED MITIGATIONS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768096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68096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07007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Rote Learning &amp; Predictability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68096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Trainees memorize fixed drone paths.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68096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Pseudorandom Seeded Scenario DNA alters approach vectors, spawn times, environmental visibility, and noise in every run while remaining fully reproducible for instructor evaluation.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380890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380890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819802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Connectivity &amp; Field Environment Outages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380890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Forward bases have zero internet access.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380890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Fully local-first Progressive Web App (PWA) with self-contained assets and bundled evidence clips ensuring 100% offline mission readiness.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7993684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993684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432596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Complex Deployment Overhead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993684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Defence units cannot troubleshoot complex installation scripts.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993684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Provided with a 1-click Python launcher (python3 launch_demo.py) and a standalone zero-dependency mobile/desktop preview.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1328897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Dramatic Cost Reduction &amp; Resource Optimiz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913" y="1645919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76656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Dramatic Cost Reduction &amp; Resource Optimization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822959" y="3054096"/>
            <a:ext cx="1523940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16" name="TextBox 17415"/>
          <p:cNvSpPr txBox="1"/>
          <p:nvPr/>
        </p:nvSpPr>
        <p:spPr>
          <a:xfrm>
            <a:off x="704088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Eliminates the immense recurring expense of expending target drones, fuel, and specialized range safety infrastructure. Delivers unlimited virtual training repetitions at zero per-drill consumable cost.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804099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584356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High-Repetition Cognitive Muscle Mem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372" y="1645919"/>
            <a:ext cx="256032" cy="2560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2932115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High-Repetition Cognitive Muscle Memory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078419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22" name="TextBox 17421"/>
          <p:cNvSpPr txBox="1"/>
          <p:nvPr/>
        </p:nvSpPr>
        <p:spPr>
          <a:xfrm>
            <a:off x="2959547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Enables soldiers and officers to experience 50+ diverse swarm and single-drone threat scenarios per week, building rapid decision reflexes under time pressure and degraded visibility.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059558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5839815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All-Weather &amp; 24/7 Training Availa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1" y="1645919"/>
            <a:ext cx="256032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187574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All-Weather &amp; 24/7 Training Availability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5333878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28" name="TextBox 17427"/>
          <p:cNvSpPr txBox="1"/>
          <p:nvPr/>
        </p:nvSpPr>
        <p:spPr>
          <a:xfrm>
            <a:off x="5215006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Training schedules are no longer canceled due to adverse weather, airspace restrictions, or range scheduling conflicts, ensuring continuous training readiness across all defence units.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315017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8095274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Objective Data-Driven Readiness Auditing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3290" y="1645919"/>
            <a:ext cx="256032" cy="256032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443033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Objective Data-Driven Readiness Auditing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7589337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34" name="TextBox 17433"/>
          <p:cNvSpPr txBox="1"/>
          <p:nvPr/>
        </p:nvSpPr>
        <p:spPr>
          <a:xfrm>
            <a:off x="7470465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Automated After-Action Review (AAR) provides command staff with empirical metrics on unit reaction speed, classification error trends, and engagement judgment over time.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570476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10350733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Strategic Alignment with Atmanirbhar Bhara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8749" y="1645919"/>
            <a:ext cx="256032" cy="256032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9698492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Strategic Alignment with Atmanirbhar Bharat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9844796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40" name="TextBox 17439"/>
          <p:cNvSpPr txBox="1"/>
          <p:nvPr/>
        </p:nvSpPr>
        <p:spPr>
          <a:xfrm>
            <a:off x="9725924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100% indigenous, sovereign training software designed to fortify India's counter-drone operational doctrine against evolving unmanned aerial threats along borders and vital installations.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11094415" cy="4965192"/>
          </a:xfrm>
          <a:prstGeom prst="roundRect">
            <a:avLst>
              <a:gd name="adj" fmla="val 2209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768096" y="1444751"/>
            <a:ext cx="3983126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68096" y="1444751"/>
            <a:ext cx="398312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0070C0"/>
                </a:solidFill>
                <a:latin typeface="Calibri"/>
              </a:rPr>
              <a:t>VERIFIED PEER-REVIEWED RESEARCH FOUNDATIONS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22959" y="1865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63040" y="1828800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Radar Drone Detection &amp; Micro-Doppler Signatures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J. Drozdowicz et al. — IEEE Radar Conference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166359" y="1828800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'35 GHz FMCW radar for drone detection and tracking'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Modeling radar cross-section (RCS) fluctuations and range-bearing tracking vectors.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10.1109/RADAR.2016.7485122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822959" y="2640787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18" name="TextBox 17417"/>
          <p:cNvSpPr txBox="1"/>
          <p:nvPr/>
        </p:nvSpPr>
        <p:spPr>
          <a:xfrm>
            <a:off x="822959" y="272308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463040" y="2686507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Adverse Weather Optical Drone Classification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S. S. A. Ghaffar et al. — IEEE Sensors Journal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166359" y="2686507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'Optical Drone Detection and Classification Under Adverse Weather Conditions'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Grounding synthetic visual degradation, contrast loss, and atmospheric extinction.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10.1109/JSEN.2020.3025211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22959" y="3498494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2" name="TextBox 17421"/>
          <p:cNvSpPr txBox="1"/>
          <p:nvPr/>
        </p:nvSpPr>
        <p:spPr>
          <a:xfrm>
            <a:off x="822959" y="358079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463040" y="3544214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Autonomous Swarm Dynamics &amp; Flocking Models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C. W. Reynolds — ACM SIGGRAPH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166359" y="3544214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'Flocks, herds and schools: A distributed behavioral model'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Implementing coordinated multi-agent separation, cohesion, and alignment dynamics for realistic swarm attacks.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10.1145/37402.37406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822959" y="4356201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6" name="TextBox 17425"/>
          <p:cNvSpPr txBox="1"/>
          <p:nvPr/>
        </p:nvSpPr>
        <p:spPr>
          <a:xfrm>
            <a:off x="822959" y="443849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63040" y="4401921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Multi-Sensor Fusion in Counter-UAS Systems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M. Ezuma et al. — IEEE Aerospace and Electronic Systems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66359" y="4401921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'Micro-UAV Detection and Classification Using Machine Learning Techniques'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Structuring multi-channel radar, EO, and RF track association.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10.1109/MAES.2019.2955959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822959" y="5213908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30" name="TextBox 17429"/>
          <p:cNvSpPr txBox="1"/>
          <p:nvPr/>
        </p:nvSpPr>
        <p:spPr>
          <a:xfrm>
            <a:off x="822959" y="52962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05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463040" y="5259628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Intelligent Tutoring Systems &amp; Simulation AAR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R. S. Sottilare et al. — Springer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166359" y="5259628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'Design Recommendations for Adaptive Intelligent Tutoring Systems'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Formulating deterministic decision-tree scoring, confidence calibration, and after-action review feedback loops.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10.1007/978-3-319-07227-2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